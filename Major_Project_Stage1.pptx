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Collusion index</c:v>
                </c:pt>
              </c:strCache>
            </c:strRef>
          </c:tx>
          <c:spPr>
            <a:solidFill>
              <a:srgbClr val="FBBF24"/>
            </a:solidFill>
            <a:effectLst/>
          </c:spPr>
          <c:invertIfNegative val="0"/>
          <c:dLbls>
            <c:numFmt formatCode="#,##0" sourceLinked="0"/>
            <c:txPr>
              <a:bodyPr/>
              <a:lstStyle/>
              <a:p>
                <a:pPr>
                  <a:defRPr b="0" i="0" strike="noStrike" sz="1100" u="none">
                    <a:solidFill>
                      <a:srgbClr val="E9EEF4"/>
                    </a:solidFill>
                    <a:latin typeface="Calibri"/>
                  </a:defRPr>
                </a:pPr>
              </a:p>
            </c:txPr>
            <c:showLegendKey val="0"/>
            <c:showVal val="1"/>
            <c:showCatName val="0"/>
            <c:showSerName val="0"/>
            <c:showPercent val="0"/>
            <c:showBubbleSize val="0"/>
            <c:showLeaderLines val="0"/>
          </c:dLbls>
          <c:dPt>
            <c:idx val="0"/>
            <c:invertIfNegative val="0"/>
            <c:bubble3D val="0"/>
            <c:spPr>
              <a:solidFill>
                <a:srgbClr val="FBBF24"/>
              </a:solidFill>
              <a:effectLst/>
            </c:spPr>
          </c:dPt>
          <c:dPt>
            <c:idx val="1"/>
            <c:invertIfNegative val="0"/>
            <c:bubble3D val="0"/>
            <c:spPr>
              <a:solidFill>
                <a:srgbClr val="FBBF24"/>
              </a:solidFill>
              <a:effectLst/>
            </c:spPr>
          </c:dPt>
          <c:dPt>
            <c:idx val="2"/>
            <c:invertIfNegative val="0"/>
            <c:bubble3D val="0"/>
            <c:spPr>
              <a:solidFill>
                <a:srgbClr val="22D3EE"/>
              </a:solidFill>
              <a:effectLst/>
            </c:spPr>
          </c:dPt>
          <c:dPt>
            <c:idx val="3"/>
            <c:invertIfNegative val="0"/>
            <c:bubble3D val="0"/>
            <c:spPr>
              <a:solidFill>
                <a:srgbClr val="22D3EE"/>
              </a:solidFill>
              <a:effectLst/>
            </c:spPr>
          </c:dPt>
          <c:cat>
            <c:multiLvlStrRef>
              <c:f>Sheet1!$A$2:$A$5</c:f>
              <c:multiLvlStrCache>
                <c:ptCount val="4"/>
                <c:lvl>
                  <c:pt idx="0">
                    <c:v>Scripted cartel</c:v>
                  </c:pt>
                  <c:pt idx="1">
                    <c:v>Patient bots</c:v>
                  </c:pt>
                  <c:pt idx="2">
                    <c:v>Myopic bots</c:v>
                  </c:pt>
                  <c:pt idx="3">
                    <c:v>Rule-based</c:v>
                  </c:pt>
                </c:lvl>
              </c:multiLvlStrCache>
            </c:multiLvlStrRef>
          </c:cat>
          <c:val>
            <c:numRef>
              <c:f>Sheet1!$B$2:$B$5</c:f>
              <c:numCache>
                <c:formatCode>General</c:formatCode>
                <c:ptCount val="4"/>
                <c:pt idx="0">
                  <c:v>0.8</c:v>
                </c:pt>
                <c:pt idx="1">
                  <c:v>0.688</c:v>
                </c:pt>
                <c:pt idx="2">
                  <c:v>0.196</c:v>
                </c:pt>
                <c:pt idx="3">
                  <c:v>0.09</c:v>
                </c:pt>
              </c:numCache>
            </c:numRef>
          </c:val>
        </c:ser>
        <c:dLbls>
          <c:numFmt formatCode="#,##0" sourceLinked="0"/>
          <c:txPr>
            <a:bodyPr/>
            <a:lstStyle/>
            <a:p>
              <a:pPr>
                <a:defRPr b="0" i="0" strike="noStrike" sz="1100" u="none">
                  <a:solidFill>
                    <a:srgbClr val="E9EEF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3A3B5"/>
                </a:solidFill>
                <a:latin typeface="Calibri"/>
              </a:defRPr>
            </a:pPr>
            <a:endParaRPr lang="en-US"/>
          </a:p>
        </c:txPr>
        <c:crossAx val="2094734552"/>
        <c:crosses val="autoZero"/>
        <c:auto val="1"/>
        <c:lblAlgn val="ctr"/>
        <c:noMultiLvlLbl val="1"/>
      </c:catAx>
      <c:valAx>
        <c:axId val="2094734552"/>
        <c:scaling>
          <c:orientation val="minMax"/>
          <c:max val="1"/>
        </c:scaling>
        <c:delete val="0"/>
        <c:axPos val="b"/>
        <c:majorGridlines>
          <c:spPr>
            <a:ln w="12700" cap="flat">
              <a:solidFill>
                <a:srgbClr val="25323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C90"/>
                </a:solidFill>
                <a:latin typeface="Calibri"/>
              </a:defRPr>
            </a:pPr>
            <a:endParaRPr lang="en-US"/>
          </a:p>
        </c:txPr>
        <c:crossAx val="2094734554"/>
        <c:crosses val="autoZero"/>
        <c:crossBetween val="between"/>
      </c:valAx>
      <c:spPr>
        <a:solidFill>
          <a:srgbClr val="0E1622"/>
        </a:solidFill>
        <a:ln>
          <a:noFill/>
        </a:ln>
        <a:effectLst/>
      </c:spPr>
    </c:plotArea>
    <c:plotVisOnly val="1"/>
    <c:dispBlanksAs val="span"/>
  </c:chart>
  <c:spPr>
    <a:solidFill>
      <a:srgbClr val="0E162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not the paper. Say: online sellers price with software; recent research shows those programs can learn to keep prices high without ever communicating. India's CCI flagged this in 2025 and said they have no tool to detect it. That missing tool is 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beats. The harm to consumers is identical to a cartel, but the legal hook is missing because there is no agreement. That is why detection has to be behavioural — read it off the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"isn't this just the paper?". The paper is god of its own simulation — it can look up whether collusion happened. A regulator has price tags and nothing else. That is a different problem and it needs a feature set the paper never had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0.430. Explain: we trained on hand-written cartels, which hold prices high by posting IDENTICAL prices. Real learning bots take turns at DIFFERENT prices. So the model learned the rule backwards and votes innocent on every real cheater. We only found this because we built four mechanisms instead of two. This is the finding that constrains stage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real-data finding — it shows we audited our own inputs rather than reporting a headline number. Emphasise the ORDER: fixing the scrapers comes before collecting more data, because more days of a duplicated column buys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2"/>
        </a:solidFill>
      </p:bgPr>
    </p:bg>
    <p:spTree>
      <p:nvGrpSpPr>
        <p:cNvPr id="1" name=""/>
        <p:cNvGrpSpPr/>
        <p:nvPr/>
      </p:nvGrpSpPr>
      <p:grpSpPr>
        <a:xfrm>
          <a:off x="0" y="0"/>
          <a:ext cx="0" cy="0"/>
          <a:chOff x="0" y="0"/>
          <a:chExt cx="0" cy="0"/>
        </a:xfrm>
      </p:grpSpPr>
      <p:sp>
        <p:nvSpPr>
          <p:cNvPr id="2" name="Text 0"/>
          <p:cNvSpPr txBox="1"/>
          <p:nvPr/>
        </p:nvSpPr>
        <p:spPr>
          <a:xfrm>
            <a:off x="548640" y="685800"/>
            <a:ext cx="8229600" cy="27432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MAJOR PROJECT  ·  STAGE 1  ·  SIMULATION &amp; DETECTION</a:t>
            </a:r>
            <a:endParaRPr lang="en-US" sz="1200" dirty="0"/>
          </a:p>
        </p:txBody>
      </p:sp>
      <p:sp>
        <p:nvSpPr>
          <p:cNvPr id="3" name="Text 1"/>
          <p:cNvSpPr txBox="1"/>
          <p:nvPr/>
        </p:nvSpPr>
        <p:spPr>
          <a:xfrm>
            <a:off x="548640" y="1051560"/>
            <a:ext cx="8229600" cy="685800"/>
          </a:xfrm>
          <a:prstGeom prst="rect">
            <a:avLst/>
          </a:prstGeom>
          <a:noFill/>
          <a:ln/>
        </p:spPr>
        <p:txBody>
          <a:bodyPr wrap="square" lIns="0" tIns="0" rIns="0" bIns="0" rtlCol="0" anchor="ctr"/>
          <a:lstStyle/>
          <a:p>
            <a:pPr indent="0" marL="0">
              <a:buNone/>
            </a:pPr>
            <a:r>
              <a:rPr lang="en-US" sz="4000" b="1" dirty="0">
                <a:solidFill>
                  <a:srgbClr val="E9EEF4"/>
                </a:solidFill>
                <a:latin typeface="Cambria" pitchFamily="34" charset="0"/>
                <a:ea typeface="Cambria" pitchFamily="34" charset="-122"/>
                <a:cs typeface="Cambria" pitchFamily="34" charset="-120"/>
              </a:rPr>
              <a:t>Detecting Algorithmic Collusion</a:t>
            </a:r>
            <a:endParaRPr lang="en-US" sz="4000" dirty="0"/>
          </a:p>
        </p:txBody>
      </p:sp>
      <p:sp>
        <p:nvSpPr>
          <p:cNvPr id="4" name="Text 2"/>
          <p:cNvSpPr txBox="1"/>
          <p:nvPr/>
        </p:nvSpPr>
        <p:spPr>
          <a:xfrm>
            <a:off x="548640" y="1828800"/>
            <a:ext cx="7680960" cy="777240"/>
          </a:xfrm>
          <a:prstGeom prst="rect">
            <a:avLst/>
          </a:prstGeom>
          <a:noFill/>
          <a:ln/>
        </p:spPr>
        <p:txBody>
          <a:bodyPr wrap="square" lIns="0" tIns="0" rIns="0" bIns="0" rtlCol="0" anchor="ctr"/>
          <a:lstStyle/>
          <a:p>
            <a:pPr indent="0" marL="0">
              <a:lnSpc>
                <a:spcPts val="2200"/>
              </a:lnSpc>
              <a:buNone/>
            </a:pPr>
            <a:r>
              <a:rPr lang="en-US" sz="1500" dirty="0">
                <a:solidFill>
                  <a:srgbClr val="93A3B5"/>
                </a:solidFill>
                <a:latin typeface="Calibri" pitchFamily="34" charset="0"/>
                <a:ea typeface="Calibri" pitchFamily="34" charset="-122"/>
                <a:cs typeface="Calibri" pitchFamily="34" charset="-120"/>
              </a:rPr>
              <a:t>Pricing bots can learn to fix prices with no agreement between their owners.</a:t>
            </a:r>
            <a:endParaRPr lang="en-US" sz="1500" dirty="0"/>
          </a:p>
          <a:p>
            <a:pPr indent="0" marL="0">
              <a:lnSpc>
                <a:spcPts val="2200"/>
              </a:lnSpc>
              <a:buNone/>
            </a:pPr>
            <a:r>
              <a:rPr lang="en-US" sz="1500" dirty="0">
                <a:solidFill>
                  <a:srgbClr val="93A3B5"/>
                </a:solidFill>
                <a:latin typeface="Calibri" pitchFamily="34" charset="0"/>
                <a:ea typeface="Calibri" pitchFamily="34" charset="-122"/>
                <a:cs typeface="Calibri" pitchFamily="34" charset="-120"/>
              </a:rPr>
              <a:t>We build the tool that detects it — from price data alone.</a:t>
            </a:r>
            <a:endParaRPr lang="en-US" sz="1500" dirty="0"/>
          </a:p>
        </p:txBody>
      </p:sp>
      <p:sp>
        <p:nvSpPr>
          <p:cNvPr id="5" name="Shape 3"/>
          <p:cNvSpPr/>
          <p:nvPr/>
        </p:nvSpPr>
        <p:spPr>
          <a:xfrm>
            <a:off x="548640" y="3063240"/>
            <a:ext cx="2514600" cy="1143000"/>
          </a:xfrm>
          <a:prstGeom prst="roundRect">
            <a:avLst>
              <a:gd name="adj" fmla="val 4800"/>
            </a:avLst>
          </a:prstGeom>
          <a:solidFill>
            <a:srgbClr val="18222F"/>
          </a:solidFill>
          <a:ln w="12700">
            <a:solidFill>
              <a:srgbClr val="25323F"/>
            </a:solidFill>
            <a:prstDash val="solid"/>
          </a:ln>
        </p:spPr>
      </p:sp>
      <p:sp>
        <p:nvSpPr>
          <p:cNvPr id="6" name="Text 4"/>
          <p:cNvSpPr txBox="1"/>
          <p:nvPr/>
        </p:nvSpPr>
        <p:spPr>
          <a:xfrm>
            <a:off x="749808" y="3218688"/>
            <a:ext cx="2194560" cy="457200"/>
          </a:xfrm>
          <a:prstGeom prst="rect">
            <a:avLst/>
          </a:prstGeom>
          <a:noFill/>
          <a:ln/>
        </p:spPr>
        <p:txBody>
          <a:bodyPr wrap="square" lIns="0" tIns="0" rIns="0" bIns="0" rtlCol="0" anchor="ctr"/>
          <a:lstStyle/>
          <a:p>
            <a:pPr indent="0" marL="0">
              <a:buNone/>
            </a:pPr>
            <a:r>
              <a:rPr lang="en-US" sz="2600" b="1" dirty="0">
                <a:solidFill>
                  <a:srgbClr val="22D3EE"/>
                </a:solidFill>
                <a:latin typeface="Cambria" pitchFamily="34" charset="0"/>
                <a:ea typeface="Cambria" pitchFamily="34" charset="-122"/>
                <a:cs typeface="Cambria" pitchFamily="34" charset="-120"/>
              </a:rPr>
              <a:t>200</a:t>
            </a:r>
            <a:endParaRPr lang="en-US" sz="2600" dirty="0"/>
          </a:p>
        </p:txBody>
      </p:sp>
      <p:sp>
        <p:nvSpPr>
          <p:cNvPr id="7" name="Text 5"/>
          <p:cNvSpPr txBox="1"/>
          <p:nvPr/>
        </p:nvSpPr>
        <p:spPr>
          <a:xfrm>
            <a:off x="749808" y="3703320"/>
            <a:ext cx="2194560" cy="320040"/>
          </a:xfrm>
          <a:prstGeom prst="rect">
            <a:avLst/>
          </a:prstGeom>
          <a:noFill/>
          <a:ln/>
        </p:spPr>
        <p:txBody>
          <a:bodyPr wrap="square" lIns="0" tIns="0" rIns="0" bIns="0" rtlCol="0" anchor="ctr"/>
          <a:lstStyle/>
          <a:p>
            <a:pPr indent="0" marL="0">
              <a:buNone/>
            </a:pPr>
            <a:r>
              <a:rPr lang="en-US" sz="1100" dirty="0">
                <a:solidFill>
                  <a:srgbClr val="93A3B5"/>
                </a:solidFill>
                <a:latin typeface="Calibri" pitchFamily="34" charset="0"/>
                <a:ea typeface="Calibri" pitchFamily="34" charset="-122"/>
                <a:cs typeface="Calibri" pitchFamily="34" charset="-120"/>
              </a:rPr>
              <a:t>markets simulated</a:t>
            </a:r>
            <a:endParaRPr lang="en-US" sz="1100" dirty="0"/>
          </a:p>
        </p:txBody>
      </p:sp>
      <p:sp>
        <p:nvSpPr>
          <p:cNvPr id="8" name="Shape 6"/>
          <p:cNvSpPr/>
          <p:nvPr/>
        </p:nvSpPr>
        <p:spPr>
          <a:xfrm>
            <a:off x="3264408" y="3063240"/>
            <a:ext cx="2514600" cy="1143000"/>
          </a:xfrm>
          <a:prstGeom prst="roundRect">
            <a:avLst>
              <a:gd name="adj" fmla="val 4800"/>
            </a:avLst>
          </a:prstGeom>
          <a:solidFill>
            <a:srgbClr val="18222F"/>
          </a:solidFill>
          <a:ln w="12700">
            <a:solidFill>
              <a:srgbClr val="25323F"/>
            </a:solidFill>
            <a:prstDash val="solid"/>
          </a:ln>
        </p:spPr>
      </p:sp>
      <p:sp>
        <p:nvSpPr>
          <p:cNvPr id="9" name="Text 7"/>
          <p:cNvSpPr txBox="1"/>
          <p:nvPr/>
        </p:nvSpPr>
        <p:spPr>
          <a:xfrm>
            <a:off x="3465576" y="3218688"/>
            <a:ext cx="2194560" cy="457200"/>
          </a:xfrm>
          <a:prstGeom prst="rect">
            <a:avLst/>
          </a:prstGeom>
          <a:noFill/>
          <a:ln/>
        </p:spPr>
        <p:txBody>
          <a:bodyPr wrap="square" lIns="0" tIns="0" rIns="0" bIns="0" rtlCol="0" anchor="ctr"/>
          <a:lstStyle/>
          <a:p>
            <a:pPr indent="0" marL="0">
              <a:buNone/>
            </a:pPr>
            <a:r>
              <a:rPr lang="en-US" sz="2600" b="1" dirty="0">
                <a:solidFill>
                  <a:srgbClr val="A78BFA"/>
                </a:solidFill>
                <a:latin typeface="Cambria" pitchFamily="34" charset="0"/>
                <a:ea typeface="Cambria" pitchFamily="34" charset="-122"/>
                <a:cs typeface="Cambria" pitchFamily="34" charset="-120"/>
              </a:rPr>
              <a:t>72 million</a:t>
            </a:r>
            <a:endParaRPr lang="en-US" sz="2600" dirty="0"/>
          </a:p>
        </p:txBody>
      </p:sp>
      <p:sp>
        <p:nvSpPr>
          <p:cNvPr id="10" name="Text 8"/>
          <p:cNvSpPr txBox="1"/>
          <p:nvPr/>
        </p:nvSpPr>
        <p:spPr>
          <a:xfrm>
            <a:off x="3465576" y="3703320"/>
            <a:ext cx="2194560" cy="320040"/>
          </a:xfrm>
          <a:prstGeom prst="rect">
            <a:avLst/>
          </a:prstGeom>
          <a:noFill/>
          <a:ln/>
        </p:spPr>
        <p:txBody>
          <a:bodyPr wrap="square" lIns="0" tIns="0" rIns="0" bIns="0" rtlCol="0" anchor="ctr"/>
          <a:lstStyle/>
          <a:p>
            <a:pPr indent="0" marL="0">
              <a:buNone/>
            </a:pPr>
            <a:r>
              <a:rPr lang="en-US" sz="1100" dirty="0">
                <a:solidFill>
                  <a:srgbClr val="93A3B5"/>
                </a:solidFill>
                <a:latin typeface="Calibri" pitchFamily="34" charset="0"/>
                <a:ea typeface="Calibri" pitchFamily="34" charset="-122"/>
                <a:cs typeface="Calibri" pitchFamily="34" charset="-120"/>
              </a:rPr>
              <a:t>bot training rounds</a:t>
            </a:r>
            <a:endParaRPr lang="en-US" sz="1100" dirty="0"/>
          </a:p>
        </p:txBody>
      </p:sp>
      <p:sp>
        <p:nvSpPr>
          <p:cNvPr id="11" name="Shape 9"/>
          <p:cNvSpPr/>
          <p:nvPr/>
        </p:nvSpPr>
        <p:spPr>
          <a:xfrm>
            <a:off x="5980176" y="3063240"/>
            <a:ext cx="2514600" cy="1143000"/>
          </a:xfrm>
          <a:prstGeom prst="roundRect">
            <a:avLst>
              <a:gd name="adj" fmla="val 4800"/>
            </a:avLst>
          </a:prstGeom>
          <a:solidFill>
            <a:srgbClr val="18222F"/>
          </a:solidFill>
          <a:ln w="12700">
            <a:solidFill>
              <a:srgbClr val="25323F"/>
            </a:solidFill>
            <a:prstDash val="solid"/>
          </a:ln>
        </p:spPr>
      </p:sp>
      <p:sp>
        <p:nvSpPr>
          <p:cNvPr id="12" name="Text 10"/>
          <p:cNvSpPr txBox="1"/>
          <p:nvPr/>
        </p:nvSpPr>
        <p:spPr>
          <a:xfrm>
            <a:off x="6181344" y="3218688"/>
            <a:ext cx="2194560" cy="457200"/>
          </a:xfrm>
          <a:prstGeom prst="rect">
            <a:avLst/>
          </a:prstGeom>
          <a:noFill/>
          <a:ln/>
        </p:spPr>
        <p:txBody>
          <a:bodyPr wrap="square" lIns="0" tIns="0" rIns="0" bIns="0" rtlCol="0" anchor="ctr"/>
          <a:lstStyle/>
          <a:p>
            <a:pPr indent="0" marL="0">
              <a:buNone/>
            </a:pPr>
            <a:r>
              <a:rPr lang="en-US" sz="2600" b="1" dirty="0">
                <a:solidFill>
                  <a:srgbClr val="FBBF24"/>
                </a:solidFill>
                <a:latin typeface="Cambria" pitchFamily="34" charset="0"/>
                <a:ea typeface="Cambria" pitchFamily="34" charset="-122"/>
                <a:cs typeface="Cambria" pitchFamily="34" charset="-120"/>
              </a:rPr>
              <a:t>0.987</a:t>
            </a:r>
            <a:endParaRPr lang="en-US" sz="2600" dirty="0"/>
          </a:p>
        </p:txBody>
      </p:sp>
      <p:sp>
        <p:nvSpPr>
          <p:cNvPr id="13" name="Text 11"/>
          <p:cNvSpPr txBox="1"/>
          <p:nvPr/>
        </p:nvSpPr>
        <p:spPr>
          <a:xfrm>
            <a:off x="6181344" y="3703320"/>
            <a:ext cx="2194560" cy="320040"/>
          </a:xfrm>
          <a:prstGeom prst="rect">
            <a:avLst/>
          </a:prstGeom>
          <a:noFill/>
          <a:ln/>
        </p:spPr>
        <p:txBody>
          <a:bodyPr wrap="square" lIns="0" tIns="0" rIns="0" bIns="0" rtlCol="0" anchor="ctr"/>
          <a:lstStyle/>
          <a:p>
            <a:pPr indent="0" marL="0">
              <a:buNone/>
            </a:pPr>
            <a:r>
              <a:rPr lang="en-US" sz="1100" dirty="0">
                <a:solidFill>
                  <a:srgbClr val="93A3B5"/>
                </a:solidFill>
                <a:latin typeface="Calibri" pitchFamily="34" charset="0"/>
                <a:ea typeface="Calibri" pitchFamily="34" charset="-122"/>
                <a:cs typeface="Calibri" pitchFamily="34" charset="-120"/>
              </a:rPr>
              <a:t>detector AUC, cost-free</a:t>
            </a:r>
            <a:endParaRPr lang="en-US" sz="1100" dirty="0"/>
          </a:p>
        </p:txBody>
      </p:sp>
      <p:sp>
        <p:nvSpPr>
          <p:cNvPr id="14" name="Text 12"/>
          <p:cNvSpPr txBox="1"/>
          <p:nvPr/>
        </p:nvSpPr>
        <p:spPr>
          <a:xfrm>
            <a:off x="548640" y="4434840"/>
            <a:ext cx="8229600" cy="274320"/>
          </a:xfrm>
          <a:prstGeom prst="rect">
            <a:avLst/>
          </a:prstGeom>
          <a:noFill/>
          <a:ln/>
        </p:spPr>
        <p:txBody>
          <a:bodyPr wrap="square" lIns="0" tIns="0" rIns="0" bIns="0" rtlCol="0" anchor="ctr"/>
          <a:lstStyle/>
          <a:p>
            <a:pPr indent="0" marL="0">
              <a:buNone/>
            </a:pPr>
            <a:r>
              <a:rPr lang="en-US" sz="1100" i="1" dirty="0">
                <a:solidFill>
                  <a:srgbClr val="6B7C90"/>
                </a:solidFill>
                <a:latin typeface="Calibri" pitchFamily="34" charset="0"/>
                <a:ea typeface="Calibri" pitchFamily="34" charset="-122"/>
                <a:cs typeface="Calibri" pitchFamily="34" charset="-120"/>
              </a:rPr>
              <a:t>Live dashboard demo follows  ·  localhost:5174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457200"/>
          </a:xfrm>
          <a:prstGeom prst="rect">
            <a:avLst/>
          </a:prstGeom>
          <a:noFill/>
          <a:ln/>
        </p:spPr>
        <p:txBody>
          <a:bodyPr wrap="square" lIns="0" tIns="0" rIns="0" bIns="0" rtlCol="0" anchor="ctr"/>
          <a:lstStyle/>
          <a:p>
            <a:pPr indent="0" marL="0">
              <a:buNone/>
            </a:pPr>
            <a:r>
              <a:rPr lang="en-US" sz="2700" b="1" dirty="0">
                <a:solidFill>
                  <a:srgbClr val="E9EEF4"/>
                </a:solidFill>
                <a:latin typeface="Cambria" pitchFamily="34" charset="0"/>
                <a:ea typeface="Cambria" pitchFamily="34" charset="-122"/>
                <a:cs typeface="Cambria" pitchFamily="34" charset="-120"/>
              </a:rPr>
              <a:t>Why this is a problem nobody can currently police</a:t>
            </a:r>
            <a:endParaRPr lang="en-US" sz="2700" dirty="0"/>
          </a:p>
        </p:txBody>
      </p:sp>
      <p:sp>
        <p:nvSpPr>
          <p:cNvPr id="3" name="Shape 1"/>
          <p:cNvSpPr/>
          <p:nvPr/>
        </p:nvSpPr>
        <p:spPr>
          <a:xfrm>
            <a:off x="548640" y="1143000"/>
            <a:ext cx="384048" cy="384048"/>
          </a:xfrm>
          <a:prstGeom prst="ellipse">
            <a:avLst/>
          </a:prstGeom>
          <a:solidFill>
            <a:srgbClr val="A78BFA"/>
          </a:solidFill>
          <a:ln w="12700">
            <a:solidFill>
              <a:srgbClr val="0E1622"/>
            </a:solidFill>
            <a:prstDash val="solid"/>
          </a:ln>
        </p:spPr>
      </p:sp>
      <p:sp>
        <p:nvSpPr>
          <p:cNvPr id="4" name="Text 2"/>
          <p:cNvSpPr txBox="1"/>
          <p:nvPr/>
        </p:nvSpPr>
        <p:spPr>
          <a:xfrm>
            <a:off x="548640" y="1143000"/>
            <a:ext cx="384048" cy="384048"/>
          </a:xfrm>
          <a:prstGeom prst="rect">
            <a:avLst/>
          </a:prstGeom>
          <a:noFill/>
          <a:ln/>
        </p:spPr>
        <p:txBody>
          <a:bodyPr wrap="square" lIns="0" tIns="0" rIns="0" bIns="0" rtlCol="0" anchor="ctr"/>
          <a:lstStyle/>
          <a:p>
            <a:pPr algn="ctr" indent="0" marL="0">
              <a:buNone/>
            </a:pPr>
            <a:r>
              <a:rPr lang="en-US" sz="1100" b="1" dirty="0">
                <a:solidFill>
                  <a:srgbClr val="0E1622"/>
                </a:solidFill>
                <a:latin typeface="Calibri" pitchFamily="34" charset="0"/>
                <a:ea typeface="Calibri" pitchFamily="34" charset="-122"/>
                <a:cs typeface="Calibri" pitchFamily="34" charset="-120"/>
              </a:rPr>
              <a:t>01</a:t>
            </a:r>
            <a:endParaRPr lang="en-US" sz="1100" dirty="0"/>
          </a:p>
        </p:txBody>
      </p:sp>
      <p:sp>
        <p:nvSpPr>
          <p:cNvPr id="5" name="Text 3"/>
          <p:cNvSpPr txBox="1"/>
          <p:nvPr/>
        </p:nvSpPr>
        <p:spPr>
          <a:xfrm>
            <a:off x="1097280" y="1097280"/>
            <a:ext cx="4206240" cy="274320"/>
          </a:xfrm>
          <a:prstGeom prst="rect">
            <a:avLst/>
          </a:prstGeom>
          <a:noFill/>
          <a:ln/>
        </p:spPr>
        <p:txBody>
          <a:bodyPr wrap="square" lIns="0" tIns="0" rIns="0" bIns="0" rtlCol="0" anchor="ctr"/>
          <a:lstStyle/>
          <a:p>
            <a:pPr indent="0" marL="0">
              <a:buNone/>
            </a:pPr>
            <a:r>
              <a:rPr lang="en-US" sz="1400" b="1" dirty="0">
                <a:solidFill>
                  <a:srgbClr val="E9EEF4"/>
                </a:solidFill>
                <a:latin typeface="Calibri" pitchFamily="34" charset="0"/>
                <a:ea typeface="Calibri" pitchFamily="34" charset="-122"/>
                <a:cs typeface="Calibri" pitchFamily="34" charset="-120"/>
              </a:rPr>
              <a:t>Sellers price with algorithms</a:t>
            </a:r>
            <a:endParaRPr lang="en-US" sz="1400" dirty="0"/>
          </a:p>
        </p:txBody>
      </p:sp>
      <p:sp>
        <p:nvSpPr>
          <p:cNvPr id="6" name="Text 4"/>
          <p:cNvSpPr txBox="1"/>
          <p:nvPr/>
        </p:nvSpPr>
        <p:spPr>
          <a:xfrm>
            <a:off x="1097280" y="1371600"/>
            <a:ext cx="4206240" cy="457200"/>
          </a:xfrm>
          <a:prstGeom prst="rect">
            <a:avLst/>
          </a:prstGeom>
          <a:noFill/>
          <a:ln/>
        </p:spPr>
        <p:txBody>
          <a:bodyPr wrap="square" lIns="0" tIns="0" rIns="0" bIns="0" rtlCol="0" anchor="ctr"/>
          <a:lstStyle/>
          <a:p>
            <a:pPr indent="0" marL="0">
              <a:buNone/>
            </a:pPr>
            <a:r>
              <a:rPr lang="en-US" sz="1150" dirty="0">
                <a:solidFill>
                  <a:srgbClr val="93A3B5"/>
                </a:solidFill>
                <a:latin typeface="Calibri" pitchFamily="34" charset="0"/>
                <a:ea typeface="Calibri" pitchFamily="34" charset="-122"/>
                <a:cs typeface="Calibri" pitchFamily="34" charset="-120"/>
              </a:rPr>
              <a:t>Prices change many times a day with no human in the loop.</a:t>
            </a:r>
            <a:endParaRPr lang="en-US" sz="1150" dirty="0"/>
          </a:p>
        </p:txBody>
      </p:sp>
      <p:sp>
        <p:nvSpPr>
          <p:cNvPr id="7" name="Shape 5"/>
          <p:cNvSpPr/>
          <p:nvPr/>
        </p:nvSpPr>
        <p:spPr>
          <a:xfrm>
            <a:off x="548640" y="1984248"/>
            <a:ext cx="384048" cy="384048"/>
          </a:xfrm>
          <a:prstGeom prst="ellipse">
            <a:avLst/>
          </a:prstGeom>
          <a:solidFill>
            <a:srgbClr val="A78BFA"/>
          </a:solidFill>
          <a:ln w="12700">
            <a:solidFill>
              <a:srgbClr val="0E1622"/>
            </a:solidFill>
            <a:prstDash val="solid"/>
          </a:ln>
        </p:spPr>
      </p:sp>
      <p:sp>
        <p:nvSpPr>
          <p:cNvPr id="8" name="Text 6"/>
          <p:cNvSpPr txBox="1"/>
          <p:nvPr/>
        </p:nvSpPr>
        <p:spPr>
          <a:xfrm>
            <a:off x="548640" y="1984248"/>
            <a:ext cx="384048" cy="384048"/>
          </a:xfrm>
          <a:prstGeom prst="rect">
            <a:avLst/>
          </a:prstGeom>
          <a:noFill/>
          <a:ln/>
        </p:spPr>
        <p:txBody>
          <a:bodyPr wrap="square" lIns="0" tIns="0" rIns="0" bIns="0" rtlCol="0" anchor="ctr"/>
          <a:lstStyle/>
          <a:p>
            <a:pPr algn="ctr" indent="0" marL="0">
              <a:buNone/>
            </a:pPr>
            <a:r>
              <a:rPr lang="en-US" sz="1100" b="1" dirty="0">
                <a:solidFill>
                  <a:srgbClr val="0E1622"/>
                </a:solidFill>
                <a:latin typeface="Calibri" pitchFamily="34" charset="0"/>
                <a:ea typeface="Calibri" pitchFamily="34" charset="-122"/>
                <a:cs typeface="Calibri" pitchFamily="34" charset="-120"/>
              </a:rPr>
              <a:t>02</a:t>
            </a:r>
            <a:endParaRPr lang="en-US" sz="1100" dirty="0"/>
          </a:p>
        </p:txBody>
      </p:sp>
      <p:sp>
        <p:nvSpPr>
          <p:cNvPr id="9" name="Text 7"/>
          <p:cNvSpPr txBox="1"/>
          <p:nvPr/>
        </p:nvSpPr>
        <p:spPr>
          <a:xfrm>
            <a:off x="1097280" y="1938528"/>
            <a:ext cx="4206240" cy="274320"/>
          </a:xfrm>
          <a:prstGeom prst="rect">
            <a:avLst/>
          </a:prstGeom>
          <a:noFill/>
          <a:ln/>
        </p:spPr>
        <p:txBody>
          <a:bodyPr wrap="square" lIns="0" tIns="0" rIns="0" bIns="0" rtlCol="0" anchor="ctr"/>
          <a:lstStyle/>
          <a:p>
            <a:pPr indent="0" marL="0">
              <a:buNone/>
            </a:pPr>
            <a:r>
              <a:rPr lang="en-US" sz="1400" b="1" dirty="0">
                <a:solidFill>
                  <a:srgbClr val="E9EEF4"/>
                </a:solidFill>
                <a:latin typeface="Calibri" pitchFamily="34" charset="0"/>
                <a:ea typeface="Calibri" pitchFamily="34" charset="-122"/>
                <a:cs typeface="Calibri" pitchFamily="34" charset="-120"/>
              </a:rPr>
              <a:t>The algorithms learn to stop competing</a:t>
            </a:r>
            <a:endParaRPr lang="en-US" sz="1400" dirty="0"/>
          </a:p>
        </p:txBody>
      </p:sp>
      <p:sp>
        <p:nvSpPr>
          <p:cNvPr id="10" name="Text 8"/>
          <p:cNvSpPr txBox="1"/>
          <p:nvPr/>
        </p:nvSpPr>
        <p:spPr>
          <a:xfrm>
            <a:off x="1097280" y="2212848"/>
            <a:ext cx="4206240" cy="457200"/>
          </a:xfrm>
          <a:prstGeom prst="rect">
            <a:avLst/>
          </a:prstGeom>
          <a:noFill/>
          <a:ln/>
        </p:spPr>
        <p:txBody>
          <a:bodyPr wrap="square" lIns="0" tIns="0" rIns="0" bIns="0" rtlCol="0" anchor="ctr"/>
          <a:lstStyle/>
          <a:p>
            <a:pPr indent="0" marL="0">
              <a:buNone/>
            </a:pPr>
            <a:r>
              <a:rPr lang="en-US" sz="1150" dirty="0">
                <a:solidFill>
                  <a:srgbClr val="93A3B5"/>
                </a:solidFill>
                <a:latin typeface="Calibri" pitchFamily="34" charset="0"/>
                <a:ea typeface="Calibri" pitchFamily="34" charset="-122"/>
                <a:cs typeface="Calibri" pitchFamily="34" charset="-120"/>
              </a:rPr>
              <a:t>Each learns that undercutting triggers a price war that costs more than it gains — so it stops.</a:t>
            </a:r>
            <a:endParaRPr lang="en-US" sz="1150" dirty="0"/>
          </a:p>
        </p:txBody>
      </p:sp>
      <p:sp>
        <p:nvSpPr>
          <p:cNvPr id="11" name="Shape 9"/>
          <p:cNvSpPr/>
          <p:nvPr/>
        </p:nvSpPr>
        <p:spPr>
          <a:xfrm>
            <a:off x="548640" y="2825496"/>
            <a:ext cx="384048" cy="384048"/>
          </a:xfrm>
          <a:prstGeom prst="ellipse">
            <a:avLst/>
          </a:prstGeom>
          <a:solidFill>
            <a:srgbClr val="A78BFA"/>
          </a:solidFill>
          <a:ln w="12700">
            <a:solidFill>
              <a:srgbClr val="0E1622"/>
            </a:solidFill>
            <a:prstDash val="solid"/>
          </a:ln>
        </p:spPr>
      </p:sp>
      <p:sp>
        <p:nvSpPr>
          <p:cNvPr id="12" name="Text 10"/>
          <p:cNvSpPr txBox="1"/>
          <p:nvPr/>
        </p:nvSpPr>
        <p:spPr>
          <a:xfrm>
            <a:off x="548640" y="2825496"/>
            <a:ext cx="384048" cy="384048"/>
          </a:xfrm>
          <a:prstGeom prst="rect">
            <a:avLst/>
          </a:prstGeom>
          <a:noFill/>
          <a:ln/>
        </p:spPr>
        <p:txBody>
          <a:bodyPr wrap="square" lIns="0" tIns="0" rIns="0" bIns="0" rtlCol="0" anchor="ctr"/>
          <a:lstStyle/>
          <a:p>
            <a:pPr algn="ctr" indent="0" marL="0">
              <a:buNone/>
            </a:pPr>
            <a:r>
              <a:rPr lang="en-US" sz="1100" b="1" dirty="0">
                <a:solidFill>
                  <a:srgbClr val="0E1622"/>
                </a:solidFill>
                <a:latin typeface="Calibri" pitchFamily="34" charset="0"/>
                <a:ea typeface="Calibri" pitchFamily="34" charset="-122"/>
                <a:cs typeface="Calibri" pitchFamily="34" charset="-120"/>
              </a:rPr>
              <a:t>03</a:t>
            </a:r>
            <a:endParaRPr lang="en-US" sz="1100" dirty="0"/>
          </a:p>
        </p:txBody>
      </p:sp>
      <p:sp>
        <p:nvSpPr>
          <p:cNvPr id="13" name="Text 11"/>
          <p:cNvSpPr txBox="1"/>
          <p:nvPr/>
        </p:nvSpPr>
        <p:spPr>
          <a:xfrm>
            <a:off x="1097280" y="2779776"/>
            <a:ext cx="4206240" cy="274320"/>
          </a:xfrm>
          <a:prstGeom prst="rect">
            <a:avLst/>
          </a:prstGeom>
          <a:noFill/>
          <a:ln/>
        </p:spPr>
        <p:txBody>
          <a:bodyPr wrap="square" lIns="0" tIns="0" rIns="0" bIns="0" rtlCol="0" anchor="ctr"/>
          <a:lstStyle/>
          <a:p>
            <a:pPr indent="0" marL="0">
              <a:buNone/>
            </a:pPr>
            <a:r>
              <a:rPr lang="en-US" sz="1400" b="1" dirty="0">
                <a:solidFill>
                  <a:srgbClr val="E9EEF4"/>
                </a:solidFill>
                <a:latin typeface="Calibri" pitchFamily="34" charset="0"/>
                <a:ea typeface="Calibri" pitchFamily="34" charset="-122"/>
                <a:cs typeface="Calibri" pitchFamily="34" charset="-120"/>
              </a:rPr>
              <a:t>No agreement is ever formed</a:t>
            </a:r>
            <a:endParaRPr lang="en-US" sz="1400" dirty="0"/>
          </a:p>
        </p:txBody>
      </p:sp>
      <p:sp>
        <p:nvSpPr>
          <p:cNvPr id="14" name="Text 12"/>
          <p:cNvSpPr txBox="1"/>
          <p:nvPr/>
        </p:nvSpPr>
        <p:spPr>
          <a:xfrm>
            <a:off x="1097280" y="3054096"/>
            <a:ext cx="4206240" cy="457200"/>
          </a:xfrm>
          <a:prstGeom prst="rect">
            <a:avLst/>
          </a:prstGeom>
          <a:noFill/>
          <a:ln/>
        </p:spPr>
        <p:txBody>
          <a:bodyPr wrap="square" lIns="0" tIns="0" rIns="0" bIns="0" rtlCol="0" anchor="ctr"/>
          <a:lstStyle/>
          <a:p>
            <a:pPr indent="0" marL="0">
              <a:buNone/>
            </a:pPr>
            <a:r>
              <a:rPr lang="en-US" sz="1150" dirty="0">
                <a:solidFill>
                  <a:srgbClr val="93A3B5"/>
                </a:solidFill>
                <a:latin typeface="Calibri" pitchFamily="34" charset="0"/>
                <a:ea typeface="Calibri" pitchFamily="34" charset="-122"/>
                <a:cs typeface="Calibri" pitchFamily="34" charset="-120"/>
              </a:rPr>
              <a:t>No meeting, no email, no instruction. Owners can honestly say they never told it to coordinate.</a:t>
            </a:r>
            <a:endParaRPr lang="en-US" sz="1150" dirty="0"/>
          </a:p>
        </p:txBody>
      </p:sp>
      <p:sp>
        <p:nvSpPr>
          <p:cNvPr id="15" name="Shape 13"/>
          <p:cNvSpPr/>
          <p:nvPr/>
        </p:nvSpPr>
        <p:spPr>
          <a:xfrm>
            <a:off x="548640" y="3666744"/>
            <a:ext cx="384048" cy="384048"/>
          </a:xfrm>
          <a:prstGeom prst="ellipse">
            <a:avLst/>
          </a:prstGeom>
          <a:solidFill>
            <a:srgbClr val="F87171"/>
          </a:solidFill>
          <a:ln w="12700">
            <a:solidFill>
              <a:srgbClr val="0E1622"/>
            </a:solidFill>
            <a:prstDash val="solid"/>
          </a:ln>
        </p:spPr>
      </p:sp>
      <p:sp>
        <p:nvSpPr>
          <p:cNvPr id="16" name="Text 14"/>
          <p:cNvSpPr txBox="1"/>
          <p:nvPr/>
        </p:nvSpPr>
        <p:spPr>
          <a:xfrm>
            <a:off x="548640" y="3666744"/>
            <a:ext cx="384048" cy="384048"/>
          </a:xfrm>
          <a:prstGeom prst="rect">
            <a:avLst/>
          </a:prstGeom>
          <a:noFill/>
          <a:ln/>
        </p:spPr>
        <p:txBody>
          <a:bodyPr wrap="square" lIns="0" tIns="0" rIns="0" bIns="0" rtlCol="0" anchor="ctr"/>
          <a:lstStyle/>
          <a:p>
            <a:pPr algn="ctr" indent="0" marL="0">
              <a:buNone/>
            </a:pPr>
            <a:r>
              <a:rPr lang="en-US" sz="1100" b="1" dirty="0">
                <a:solidFill>
                  <a:srgbClr val="0E1622"/>
                </a:solidFill>
                <a:latin typeface="Calibri" pitchFamily="34" charset="0"/>
                <a:ea typeface="Calibri" pitchFamily="34" charset="-122"/>
                <a:cs typeface="Calibri" pitchFamily="34" charset="-120"/>
              </a:rPr>
              <a:t>04</a:t>
            </a:r>
            <a:endParaRPr lang="en-US" sz="1100" dirty="0"/>
          </a:p>
        </p:txBody>
      </p:sp>
      <p:sp>
        <p:nvSpPr>
          <p:cNvPr id="17" name="Text 15"/>
          <p:cNvSpPr txBox="1"/>
          <p:nvPr/>
        </p:nvSpPr>
        <p:spPr>
          <a:xfrm>
            <a:off x="1097280" y="3621024"/>
            <a:ext cx="4206240" cy="274320"/>
          </a:xfrm>
          <a:prstGeom prst="rect">
            <a:avLst/>
          </a:prstGeom>
          <a:noFill/>
          <a:ln/>
        </p:spPr>
        <p:txBody>
          <a:bodyPr wrap="square" lIns="0" tIns="0" rIns="0" bIns="0" rtlCol="0" anchor="ctr"/>
          <a:lstStyle/>
          <a:p>
            <a:pPr indent="0" marL="0">
              <a:buNone/>
            </a:pPr>
            <a:r>
              <a:rPr lang="en-US" sz="1400" b="1" dirty="0">
                <a:solidFill>
                  <a:srgbClr val="E9EEF4"/>
                </a:solidFill>
                <a:latin typeface="Calibri" pitchFamily="34" charset="0"/>
                <a:ea typeface="Calibri" pitchFamily="34" charset="-122"/>
                <a:cs typeface="Calibri" pitchFamily="34" charset="-120"/>
              </a:rPr>
              <a:t>Competition law cannot reach it</a:t>
            </a:r>
            <a:endParaRPr lang="en-US" sz="1400" dirty="0"/>
          </a:p>
        </p:txBody>
      </p:sp>
      <p:sp>
        <p:nvSpPr>
          <p:cNvPr id="18" name="Text 16"/>
          <p:cNvSpPr txBox="1"/>
          <p:nvPr/>
        </p:nvSpPr>
        <p:spPr>
          <a:xfrm>
            <a:off x="1097280" y="3895344"/>
            <a:ext cx="4206240" cy="457200"/>
          </a:xfrm>
          <a:prstGeom prst="rect">
            <a:avLst/>
          </a:prstGeom>
          <a:noFill/>
          <a:ln/>
        </p:spPr>
        <p:txBody>
          <a:bodyPr wrap="square" lIns="0" tIns="0" rIns="0" bIns="0" rtlCol="0" anchor="ctr"/>
          <a:lstStyle/>
          <a:p>
            <a:pPr indent="0" marL="0">
              <a:buNone/>
            </a:pPr>
            <a:r>
              <a:rPr lang="en-US" sz="1150" dirty="0">
                <a:solidFill>
                  <a:srgbClr val="93A3B5"/>
                </a:solidFill>
                <a:latin typeface="Calibri" pitchFamily="34" charset="0"/>
                <a:ea typeface="Calibri" pitchFamily="34" charset="-122"/>
                <a:cs typeface="Calibri" pitchFamily="34" charset="-120"/>
              </a:rPr>
              <a:t>The Competition Act targets agreements. There is no agreement to prove.</a:t>
            </a:r>
            <a:endParaRPr lang="en-US" sz="1150" dirty="0"/>
          </a:p>
        </p:txBody>
      </p:sp>
      <p:sp>
        <p:nvSpPr>
          <p:cNvPr id="19" name="Shape 17"/>
          <p:cNvSpPr/>
          <p:nvPr/>
        </p:nvSpPr>
        <p:spPr>
          <a:xfrm>
            <a:off x="5623560" y="1097280"/>
            <a:ext cx="2971800" cy="3108960"/>
          </a:xfrm>
          <a:prstGeom prst="roundRect">
            <a:avLst>
              <a:gd name="adj" fmla="val 1846"/>
            </a:avLst>
          </a:prstGeom>
          <a:solidFill>
            <a:srgbClr val="18222F"/>
          </a:solidFill>
          <a:ln w="12700">
            <a:solidFill>
              <a:srgbClr val="25323F"/>
            </a:solidFill>
            <a:prstDash val="solid"/>
          </a:ln>
        </p:spPr>
      </p:sp>
      <p:sp>
        <p:nvSpPr>
          <p:cNvPr id="20" name="Text 18"/>
          <p:cNvSpPr txBox="1"/>
          <p:nvPr/>
        </p:nvSpPr>
        <p:spPr>
          <a:xfrm>
            <a:off x="5897880" y="1325880"/>
            <a:ext cx="2468880" cy="274320"/>
          </a:xfrm>
          <a:prstGeom prst="rect">
            <a:avLst/>
          </a:prstGeom>
          <a:noFill/>
          <a:ln/>
        </p:spPr>
        <p:txBody>
          <a:bodyPr wrap="square" lIns="0" tIns="0" rIns="0" bIns="0" rtlCol="0" anchor="ctr"/>
          <a:lstStyle/>
          <a:p>
            <a:pPr indent="0" marL="0">
              <a:buNone/>
            </a:pPr>
            <a:r>
              <a:rPr lang="en-US" sz="1200" b="1" dirty="0">
                <a:solidFill>
                  <a:srgbClr val="FBBF24"/>
                </a:solidFill>
                <a:latin typeface="Calibri" pitchFamily="34" charset="0"/>
                <a:ea typeface="Calibri" pitchFamily="34" charset="-122"/>
                <a:cs typeface="Calibri" pitchFamily="34" charset="-120"/>
              </a:rPr>
              <a:t>The regulator's position</a:t>
            </a:r>
            <a:endParaRPr lang="en-US" sz="1200" dirty="0"/>
          </a:p>
        </p:txBody>
      </p:sp>
      <p:sp>
        <p:nvSpPr>
          <p:cNvPr id="21" name="Text 19"/>
          <p:cNvSpPr txBox="1"/>
          <p:nvPr/>
        </p:nvSpPr>
        <p:spPr>
          <a:xfrm>
            <a:off x="5897880" y="1645920"/>
            <a:ext cx="2468880" cy="1005840"/>
          </a:xfrm>
          <a:prstGeom prst="rect">
            <a:avLst/>
          </a:prstGeom>
          <a:noFill/>
          <a:ln/>
        </p:spPr>
        <p:txBody>
          <a:bodyPr wrap="square" lIns="0" tIns="0" rIns="0" bIns="0" rtlCol="0" anchor="ctr"/>
          <a:lstStyle/>
          <a:p>
            <a:pPr indent="0" marL="0">
              <a:lnSpc>
                <a:spcPts val="1700"/>
              </a:lnSpc>
              <a:buNone/>
            </a:pPr>
            <a:r>
              <a:rPr lang="en-US" sz="1200" dirty="0">
                <a:solidFill>
                  <a:srgbClr val="93A3B5"/>
                </a:solidFill>
                <a:latin typeface="Calibri" pitchFamily="34" charset="0"/>
                <a:ea typeface="Calibri" pitchFamily="34" charset="-122"/>
                <a:cs typeface="Calibri" pitchFamily="34" charset="-120"/>
              </a:rPr>
              <a:t>The Competition Commission of India flagged algorithmic collusion in 2025 and acknowledged it lacks the technical means to detect it.</a:t>
            </a:r>
            <a:endParaRPr lang="en-US" sz="1200" dirty="0"/>
          </a:p>
        </p:txBody>
      </p:sp>
      <p:sp>
        <p:nvSpPr>
          <p:cNvPr id="22" name="Text 20"/>
          <p:cNvSpPr txBox="1"/>
          <p:nvPr/>
        </p:nvSpPr>
        <p:spPr>
          <a:xfrm>
            <a:off x="5897880" y="2743200"/>
            <a:ext cx="2468880" cy="1005840"/>
          </a:xfrm>
          <a:prstGeom prst="rect">
            <a:avLst/>
          </a:prstGeom>
          <a:noFill/>
          <a:ln/>
        </p:spPr>
        <p:txBody>
          <a:bodyPr wrap="square" lIns="0" tIns="0" rIns="0" bIns="0" rtlCol="0" anchor="ctr"/>
          <a:lstStyle/>
          <a:p>
            <a:pPr indent="0" marL="0">
              <a:lnSpc>
                <a:spcPts val="1800"/>
              </a:lnSpc>
              <a:buNone/>
            </a:pPr>
            <a:r>
              <a:rPr lang="en-US" sz="1250" b="1" dirty="0">
                <a:solidFill>
                  <a:srgbClr val="E9EEF4"/>
                </a:solidFill>
                <a:latin typeface="Calibri" pitchFamily="34" charset="0"/>
                <a:ea typeface="Calibri" pitchFamily="34" charset="-122"/>
                <a:cs typeface="Calibri" pitchFamily="34" charset="-120"/>
              </a:rPr>
              <a:t>If you cannot prove an agreement, the only route left is to detect the behaviour in the price data itself.</a:t>
            </a:r>
            <a:endParaRPr lang="en-US" sz="1250" dirty="0"/>
          </a:p>
        </p:txBody>
      </p:sp>
      <p:sp>
        <p:nvSpPr>
          <p:cNvPr id="23" name="Text 21"/>
          <p:cNvSpPr txBox="1"/>
          <p:nvPr/>
        </p:nvSpPr>
        <p:spPr>
          <a:xfrm>
            <a:off x="5897880" y="3749040"/>
            <a:ext cx="2468880" cy="274320"/>
          </a:xfrm>
          <a:prstGeom prst="rect">
            <a:avLst/>
          </a:prstGeom>
          <a:noFill/>
          <a:ln/>
        </p:spPr>
        <p:txBody>
          <a:bodyPr wrap="square" lIns="0" tIns="0" rIns="0" bIns="0" rtlCol="0" anchor="ctr"/>
          <a:lstStyle/>
          <a:p>
            <a:pPr indent="0" marL="0">
              <a:buNone/>
            </a:pPr>
            <a:r>
              <a:rPr lang="en-US" sz="1100" i="1" dirty="0">
                <a:solidFill>
                  <a:srgbClr val="FBBF24"/>
                </a:solidFill>
                <a:latin typeface="Calibri" pitchFamily="34" charset="0"/>
                <a:ea typeface="Calibri" pitchFamily="34" charset="-122"/>
                <a:cs typeface="Calibri" pitchFamily="34" charset="-120"/>
              </a:rPr>
              <a:t>← that is what we built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2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457200"/>
          </a:xfrm>
          <a:prstGeom prst="rect">
            <a:avLst/>
          </a:prstGeom>
          <a:noFill/>
          <a:ln/>
        </p:spPr>
        <p:txBody>
          <a:bodyPr wrap="square" lIns="0" tIns="0" rIns="0" bIns="0" rtlCol="0" anchor="ctr"/>
          <a:lstStyle/>
          <a:p>
            <a:pPr indent="0" marL="0">
              <a:buNone/>
            </a:pPr>
            <a:r>
              <a:rPr lang="en-US" sz="2700" b="1" dirty="0">
                <a:solidFill>
                  <a:srgbClr val="E9EEF4"/>
                </a:solidFill>
                <a:latin typeface="Cambria" pitchFamily="34" charset="0"/>
                <a:ea typeface="Cambria" pitchFamily="34" charset="-122"/>
                <a:cs typeface="Cambria" pitchFamily="34" charset="-120"/>
              </a:rPr>
              <a:t>What the paper established — and what we added</a:t>
            </a:r>
            <a:endParaRPr lang="en-US" sz="2700" dirty="0"/>
          </a:p>
        </p:txBody>
      </p:sp>
      <p:sp>
        <p:nvSpPr>
          <p:cNvPr id="3" name="Shape 1"/>
          <p:cNvSpPr/>
          <p:nvPr/>
        </p:nvSpPr>
        <p:spPr>
          <a:xfrm>
            <a:off x="548640" y="1051560"/>
            <a:ext cx="3886200" cy="2514600"/>
          </a:xfrm>
          <a:prstGeom prst="roundRect">
            <a:avLst>
              <a:gd name="adj" fmla="val 2182"/>
            </a:avLst>
          </a:prstGeom>
          <a:solidFill>
            <a:srgbClr val="18222F"/>
          </a:solidFill>
          <a:ln w="12700">
            <a:solidFill>
              <a:srgbClr val="25323F"/>
            </a:solidFill>
            <a:prstDash val="solid"/>
          </a:ln>
        </p:spPr>
      </p:sp>
      <p:sp>
        <p:nvSpPr>
          <p:cNvPr id="4" name="Text 2"/>
          <p:cNvSpPr txBox="1"/>
          <p:nvPr/>
        </p:nvSpPr>
        <p:spPr>
          <a:xfrm>
            <a:off x="804672" y="1261872"/>
            <a:ext cx="3383280" cy="274320"/>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Calvano et al., AER 2020</a:t>
            </a:r>
            <a:endParaRPr lang="en-US" sz="1300" dirty="0"/>
          </a:p>
        </p:txBody>
      </p:sp>
      <p:sp>
        <p:nvSpPr>
          <p:cNvPr id="5" name="Text 3"/>
          <p:cNvSpPr txBox="1"/>
          <p:nvPr/>
        </p:nvSpPr>
        <p:spPr>
          <a:xfrm>
            <a:off x="804672" y="1600200"/>
            <a:ext cx="3383280" cy="18288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93A3B5"/>
                </a:solidFill>
                <a:latin typeface="Calibri" pitchFamily="34" charset="0"/>
                <a:ea typeface="Calibri" pitchFamily="34" charset="-122"/>
                <a:cs typeface="Calibri" pitchFamily="34" charset="-120"/>
              </a:rPr>
              <a:t>Builds the simulated market and the Q-learning bots</a:t>
            </a:r>
            <a:endParaRPr lang="en-US" sz="1150" dirty="0"/>
          </a:p>
          <a:p>
            <a:pPr marL="342900" indent="-342900">
              <a:lnSpc>
                <a:spcPts val="1500"/>
              </a:lnSpc>
              <a:spcAft>
                <a:spcPts val="700"/>
              </a:spcAft>
              <a:buSzPct val="100000"/>
              <a:buChar char="•"/>
            </a:pPr>
            <a:r>
              <a:rPr lang="en-US" sz="1150" dirty="0">
                <a:solidFill>
                  <a:srgbClr val="93A3B5"/>
                </a:solidFill>
                <a:latin typeface="Calibri" pitchFamily="34" charset="0"/>
                <a:ea typeface="Calibri" pitchFamily="34" charset="-122"/>
                <a:cs typeface="Calibri" pitchFamily="34" charset="-120"/>
              </a:rPr>
              <a:t>Proves patient bots reach cartel-level prices with no communication</a:t>
            </a:r>
            <a:endParaRPr lang="en-US" sz="1150" dirty="0"/>
          </a:p>
          <a:p>
            <a:pPr marL="342900" indent="-342900">
              <a:lnSpc>
                <a:spcPts val="1500"/>
              </a:lnSpc>
              <a:spcAft>
                <a:spcPts val="700"/>
              </a:spcAft>
              <a:buSzPct val="100000"/>
              <a:buChar char="•"/>
            </a:pPr>
            <a:r>
              <a:rPr lang="en-US" sz="1150" dirty="0">
                <a:solidFill>
                  <a:srgbClr val="93A3B5"/>
                </a:solidFill>
                <a:latin typeface="Calibri" pitchFamily="34" charset="0"/>
                <a:ea typeface="Calibri" pitchFamily="34" charset="-122"/>
                <a:cs typeface="Calibri" pitchFamily="34" charset="-120"/>
              </a:rPr>
              <a:t>Measures collusion with full information — it knows every seller's cost and the true demand curve</a:t>
            </a:r>
            <a:endParaRPr lang="en-US" sz="1150" dirty="0"/>
          </a:p>
          <a:p>
            <a:pPr marL="342900" indent="-342900">
              <a:lnSpc>
                <a:spcPts val="1500"/>
              </a:lnSpc>
              <a:spcAft>
                <a:spcPts val="700"/>
              </a:spcAft>
              <a:buSzPct val="100000"/>
              <a:buChar char="•"/>
            </a:pPr>
            <a:r>
              <a:rPr lang="en-US" sz="1150" dirty="0">
                <a:solidFill>
                  <a:srgbClr val="93A3B5"/>
                </a:solidFill>
                <a:latin typeface="Calibri" pitchFamily="34" charset="0"/>
                <a:ea typeface="Calibri" pitchFamily="34" charset="-122"/>
                <a:cs typeface="Calibri" pitchFamily="34" charset="-120"/>
              </a:rPr>
              <a:t>Never asks whether an outsider could detect it</a:t>
            </a:r>
            <a:endParaRPr lang="en-US" sz="1150" dirty="0"/>
          </a:p>
        </p:txBody>
      </p:sp>
      <p:sp>
        <p:nvSpPr>
          <p:cNvPr id="6" name="Shape 4"/>
          <p:cNvSpPr/>
          <p:nvPr/>
        </p:nvSpPr>
        <p:spPr>
          <a:xfrm>
            <a:off x="4754880" y="1051560"/>
            <a:ext cx="3886200" cy="2514600"/>
          </a:xfrm>
          <a:prstGeom prst="roundRect">
            <a:avLst>
              <a:gd name="adj" fmla="val 2182"/>
            </a:avLst>
          </a:prstGeom>
          <a:solidFill>
            <a:srgbClr val="18222F"/>
          </a:solidFill>
          <a:ln w="19050">
            <a:solidFill>
              <a:srgbClr val="FBBF24"/>
            </a:solidFill>
            <a:prstDash val="solid"/>
          </a:ln>
        </p:spPr>
      </p:sp>
      <p:sp>
        <p:nvSpPr>
          <p:cNvPr id="7" name="Text 5"/>
          <p:cNvSpPr txBox="1"/>
          <p:nvPr/>
        </p:nvSpPr>
        <p:spPr>
          <a:xfrm>
            <a:off x="5010912" y="1261872"/>
            <a:ext cx="3383280" cy="274320"/>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This project</a:t>
            </a:r>
            <a:endParaRPr lang="en-US" sz="1300" dirty="0"/>
          </a:p>
        </p:txBody>
      </p:sp>
      <p:sp>
        <p:nvSpPr>
          <p:cNvPr id="8" name="Text 6"/>
          <p:cNvSpPr txBox="1"/>
          <p:nvPr/>
        </p:nvSpPr>
        <p:spPr>
          <a:xfrm>
            <a:off x="5010912" y="1600200"/>
            <a:ext cx="3383280" cy="18288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93A3B5"/>
                </a:solidFill>
                <a:latin typeface="Calibri" pitchFamily="34" charset="0"/>
                <a:ea typeface="Calibri" pitchFamily="34" charset="-122"/>
                <a:cs typeface="Calibri" pitchFamily="34" charset="-120"/>
              </a:rPr>
              <a:t>Reframes it as a detection problem: only price tags are observable</a:t>
            </a:r>
            <a:endParaRPr lang="en-US" sz="1150" dirty="0"/>
          </a:p>
          <a:p>
            <a:pPr marL="342900" indent="-342900">
              <a:lnSpc>
                <a:spcPts val="1500"/>
              </a:lnSpc>
              <a:spcAft>
                <a:spcPts val="700"/>
              </a:spcAft>
              <a:buSzPct val="100000"/>
              <a:buChar char="•"/>
            </a:pPr>
            <a:r>
              <a:rPr lang="en-US" sz="1150" dirty="0">
                <a:solidFill>
                  <a:srgbClr val="93A3B5"/>
                </a:solidFill>
                <a:latin typeface="Calibri" pitchFamily="34" charset="0"/>
                <a:ea typeface="Calibri" pitchFamily="34" charset="-122"/>
                <a:cs typeface="Calibri" pitchFamily="34" charset="-120"/>
              </a:rPr>
              <a:t>19 cost-free features — no cost, no profit, no equilibrium anchors</a:t>
            </a:r>
            <a:endParaRPr lang="en-US" sz="1150" dirty="0"/>
          </a:p>
          <a:p>
            <a:pPr marL="342900" indent="-342900">
              <a:lnSpc>
                <a:spcPts val="1500"/>
              </a:lnSpc>
              <a:spcAft>
                <a:spcPts val="700"/>
              </a:spcAft>
              <a:buSzPct val="100000"/>
              <a:buChar char="•"/>
            </a:pPr>
            <a:r>
              <a:rPr lang="en-US" sz="1150" dirty="0">
                <a:solidFill>
                  <a:srgbClr val="93A3B5"/>
                </a:solidFill>
                <a:latin typeface="Calibri" pitchFamily="34" charset="0"/>
                <a:ea typeface="Calibri" pitchFamily="34" charset="-122"/>
                <a:cs typeface="Calibri" pitchFamily="34" charset="-120"/>
              </a:rPr>
              <a:t>4 generating mechanisms, so the model cannot learn "a Q-learning artefact"</a:t>
            </a:r>
            <a:endParaRPr lang="en-US" sz="1150" dirty="0"/>
          </a:p>
          <a:p>
            <a:pPr marL="342900" indent="-342900">
              <a:lnSpc>
                <a:spcPts val="1500"/>
              </a:lnSpc>
              <a:spcAft>
                <a:spcPts val="700"/>
              </a:spcAft>
              <a:buSzPct val="100000"/>
              <a:buChar char="•"/>
            </a:pPr>
            <a:r>
              <a:rPr lang="en-US" sz="1150" dirty="0">
                <a:solidFill>
                  <a:srgbClr val="93A3B5"/>
                </a:solidFill>
                <a:latin typeface="Calibri" pitchFamily="34" charset="0"/>
                <a:ea typeface="Calibri" pitchFamily="34" charset="-122"/>
                <a:cs typeface="Calibri" pitchFamily="34" charset="-120"/>
              </a:rPr>
              <a:t>Trains and evaluates a classifier, including where it fails</a:t>
            </a:r>
            <a:endParaRPr lang="en-US" sz="1150" dirty="0"/>
          </a:p>
        </p:txBody>
      </p:sp>
      <p:sp>
        <p:nvSpPr>
          <p:cNvPr id="9" name="Shape 7"/>
          <p:cNvSpPr/>
          <p:nvPr/>
        </p:nvSpPr>
        <p:spPr>
          <a:xfrm>
            <a:off x="548640" y="3749040"/>
            <a:ext cx="8092440" cy="777240"/>
          </a:xfrm>
          <a:prstGeom prst="roundRect">
            <a:avLst>
              <a:gd name="adj" fmla="val 7059"/>
            </a:avLst>
          </a:prstGeom>
          <a:solidFill>
            <a:srgbClr val="141D29"/>
          </a:solidFill>
          <a:ln w="12700">
            <a:solidFill>
              <a:srgbClr val="25323F"/>
            </a:solidFill>
            <a:prstDash val="solid"/>
          </a:ln>
        </p:spPr>
      </p:sp>
      <p:sp>
        <p:nvSpPr>
          <p:cNvPr id="10" name="Text 8"/>
          <p:cNvSpPr txBox="1"/>
          <p:nvPr/>
        </p:nvSpPr>
        <p:spPr>
          <a:xfrm>
            <a:off x="822960" y="3950208"/>
            <a:ext cx="7589520" cy="411480"/>
          </a:xfrm>
          <a:prstGeom prst="rect">
            <a:avLst/>
          </a:prstGeom>
          <a:noFill/>
          <a:ln/>
        </p:spPr>
        <p:txBody>
          <a:bodyPr wrap="square" lIns="0" tIns="0" rIns="0" bIns="0" rtlCol="0" anchor="ctr"/>
          <a:lstStyle/>
          <a:p>
            <a:pPr indent="0" marL="0">
              <a:lnSpc>
                <a:spcPts val="1600"/>
              </a:lnSpc>
              <a:buNone/>
            </a:pPr>
            <a:r>
              <a:rPr lang="en-US" sz="1200" b="1" dirty="0">
                <a:solidFill>
                  <a:srgbClr val="E9EEF4"/>
                </a:solidFill>
                <a:latin typeface="Calibri" pitchFamily="34" charset="0"/>
                <a:ea typeface="Calibri" pitchFamily="34" charset="-122"/>
                <a:cs typeface="Calibri" pitchFamily="34" charset="-120"/>
              </a:rPr>
              <a:t>Calibration check.  </a:t>
            </a:r>
            <a:pPr indent="0" marL="0">
              <a:lnSpc>
                <a:spcPts val="1600"/>
              </a:lnSpc>
              <a:buNone/>
            </a:pPr>
            <a:r>
              <a:rPr lang="en-US" sz="1200" dirty="0">
                <a:solidFill>
                  <a:srgbClr val="93A3B5"/>
                </a:solidFill>
                <a:latin typeface="Calibri" pitchFamily="34" charset="0"/>
                <a:ea typeface="Calibri" pitchFamily="34" charset="-122"/>
                <a:cs typeface="Calibri" pitchFamily="34" charset="-120"/>
              </a:rPr>
              <a:t>Our solver returns p_Nash = 1.4729 and p_monopoly = 1.9250 — matching the published values to four decimals. The paper is our instrument calibration, not our result.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22"/>
        </a:solidFill>
      </p:bgPr>
    </p:bg>
    <p:spTree>
      <p:nvGrpSpPr>
        <p:cNvPr id="1" name=""/>
        <p:cNvGrpSpPr/>
        <p:nvPr/>
      </p:nvGrpSpPr>
      <p:grpSpPr>
        <a:xfrm>
          <a:off x="0" y="0"/>
          <a:ext cx="0" cy="0"/>
          <a:chOff x="0" y="0"/>
          <a:chExt cx="0" cy="0"/>
        </a:xfrm>
      </p:grpSpPr>
      <p:sp>
        <p:nvSpPr>
          <p:cNvPr id="2" name="Text 0"/>
          <p:cNvSpPr txBox="1"/>
          <p:nvPr/>
        </p:nvSpPr>
        <p:spPr>
          <a:xfrm>
            <a:off x="548640" y="365760"/>
            <a:ext cx="3657600" cy="411480"/>
          </a:xfrm>
          <a:prstGeom prst="rect">
            <a:avLst/>
          </a:prstGeom>
          <a:noFill/>
          <a:ln/>
        </p:spPr>
        <p:txBody>
          <a:bodyPr wrap="square" lIns="0" tIns="0" rIns="0" bIns="0" rtlCol="0" anchor="ctr"/>
          <a:lstStyle/>
          <a:p>
            <a:pPr indent="0" marL="0">
              <a:buNone/>
            </a:pPr>
            <a:r>
              <a:rPr lang="en-US" sz="2700" b="1" dirty="0">
                <a:solidFill>
                  <a:srgbClr val="E9EEF4"/>
                </a:solidFill>
                <a:latin typeface="Cambria" pitchFamily="34" charset="0"/>
                <a:ea typeface="Cambria" pitchFamily="34" charset="-122"/>
                <a:cs typeface="Cambria" pitchFamily="34" charset="-120"/>
              </a:rPr>
              <a:t>Results</a:t>
            </a:r>
            <a:endParaRPr lang="en-US" sz="2700" dirty="0"/>
          </a:p>
        </p:txBody>
      </p:sp>
      <p:sp>
        <p:nvSpPr>
          <p:cNvPr id="3" name="Text 1"/>
          <p:cNvSpPr txBox="1"/>
          <p:nvPr/>
        </p:nvSpPr>
        <p:spPr>
          <a:xfrm>
            <a:off x="548640" y="804672"/>
            <a:ext cx="4754880" cy="274320"/>
          </a:xfrm>
          <a:prstGeom prst="rect">
            <a:avLst/>
          </a:prstGeom>
          <a:noFill/>
          <a:ln/>
        </p:spPr>
        <p:txBody>
          <a:bodyPr wrap="square" lIns="0" tIns="0" rIns="0" bIns="0" rtlCol="0" anchor="ctr"/>
          <a:lstStyle/>
          <a:p>
            <a:pPr indent="0" marL="0">
              <a:buNone/>
            </a:pPr>
            <a:r>
              <a:rPr lang="en-US" sz="1100" dirty="0">
                <a:solidFill>
                  <a:srgbClr val="93A3B5"/>
                </a:solidFill>
                <a:latin typeface="Calibri" pitchFamily="34" charset="0"/>
                <a:ea typeface="Calibri" pitchFamily="34" charset="-122"/>
                <a:cs typeface="Calibri" pitchFamily="34" charset="-120"/>
              </a:rPr>
              <a:t>Collusion index Δ by generating mechanism — 0 = competitive, 1 = perfect cartel</a:t>
            </a:r>
            <a:endParaRPr lang="en-US" sz="1100" dirty="0"/>
          </a:p>
        </p:txBody>
      </p:sp>
      <p:graphicFrame>
        <p:nvGraphicFramePr>
          <p:cNvPr id="4" name="Chart 0" descr=""/>
          <p:cNvGraphicFramePr/>
          <p:nvPr/>
        </p:nvGraphicFramePr>
        <p:xfrm>
          <a:off x="411480" y="1097280"/>
          <a:ext cx="484632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0" y="1097280"/>
            <a:ext cx="3154680" cy="914400"/>
          </a:xfrm>
          <a:prstGeom prst="roundRect">
            <a:avLst>
              <a:gd name="adj" fmla="val 6000"/>
            </a:avLst>
          </a:prstGeom>
          <a:solidFill>
            <a:srgbClr val="18222F"/>
          </a:solidFill>
          <a:ln w="12700">
            <a:solidFill>
              <a:srgbClr val="25323F"/>
            </a:solidFill>
            <a:prstDash val="solid"/>
          </a:ln>
        </p:spPr>
      </p:sp>
      <p:sp>
        <p:nvSpPr>
          <p:cNvPr id="6" name="Text 3"/>
          <p:cNvSpPr txBox="1"/>
          <p:nvPr/>
        </p:nvSpPr>
        <p:spPr>
          <a:xfrm>
            <a:off x="5715000" y="1207008"/>
            <a:ext cx="1097280" cy="384048"/>
          </a:xfrm>
          <a:prstGeom prst="rect">
            <a:avLst/>
          </a:prstGeom>
          <a:noFill/>
          <a:ln/>
        </p:spPr>
        <p:txBody>
          <a:bodyPr wrap="square" lIns="0" tIns="0" rIns="0" bIns="0" rtlCol="0" anchor="ctr"/>
          <a:lstStyle/>
          <a:p>
            <a:pPr indent="0" marL="0">
              <a:buNone/>
            </a:pPr>
            <a:r>
              <a:rPr lang="en-US" sz="2200" b="1" dirty="0">
                <a:solidFill>
                  <a:srgbClr val="FBBF24"/>
                </a:solidFill>
                <a:latin typeface="Cambria" pitchFamily="34" charset="0"/>
                <a:ea typeface="Cambria" pitchFamily="34" charset="-122"/>
                <a:cs typeface="Cambria" pitchFamily="34" charset="-120"/>
              </a:rPr>
              <a:t>0.987</a:t>
            </a:r>
            <a:endParaRPr lang="en-US" sz="2200" dirty="0"/>
          </a:p>
        </p:txBody>
      </p:sp>
      <p:sp>
        <p:nvSpPr>
          <p:cNvPr id="7" name="Text 4"/>
          <p:cNvSpPr txBox="1"/>
          <p:nvPr/>
        </p:nvSpPr>
        <p:spPr>
          <a:xfrm>
            <a:off x="6812280" y="1234440"/>
            <a:ext cx="1691640" cy="365760"/>
          </a:xfrm>
          <a:prstGeom prst="rect">
            <a:avLst/>
          </a:prstGeom>
          <a:noFill/>
          <a:ln/>
        </p:spPr>
        <p:txBody>
          <a:bodyPr wrap="square" lIns="0" tIns="0" rIns="0" bIns="0" rtlCol="0" anchor="ctr"/>
          <a:lstStyle/>
          <a:p>
            <a:pPr indent="0" marL="0">
              <a:buNone/>
            </a:pPr>
            <a:r>
              <a:rPr lang="en-US" sz="1050" b="1" dirty="0">
                <a:solidFill>
                  <a:srgbClr val="E9EEF4"/>
                </a:solidFill>
                <a:latin typeface="Calibri" pitchFamily="34" charset="0"/>
                <a:ea typeface="Calibri" pitchFamily="34" charset="-122"/>
                <a:cs typeface="Calibri" pitchFamily="34" charset="-120"/>
              </a:rPr>
              <a:t>Detector AUC on all 200 markets</a:t>
            </a:r>
            <a:endParaRPr lang="en-US" sz="1050" dirty="0"/>
          </a:p>
        </p:txBody>
      </p:sp>
      <p:sp>
        <p:nvSpPr>
          <p:cNvPr id="8" name="Text 5"/>
          <p:cNvSpPr txBox="1"/>
          <p:nvPr/>
        </p:nvSpPr>
        <p:spPr>
          <a:xfrm>
            <a:off x="5715000" y="1627632"/>
            <a:ext cx="2743200" cy="320040"/>
          </a:xfrm>
          <a:prstGeom prst="rect">
            <a:avLst/>
          </a:prstGeom>
          <a:noFill/>
          <a:ln/>
        </p:spPr>
        <p:txBody>
          <a:bodyPr wrap="square" lIns="0" tIns="0" rIns="0" bIns="0" rtlCol="0" anchor="ctr"/>
          <a:lstStyle/>
          <a:p>
            <a:pPr indent="0" marL="0">
              <a:buNone/>
            </a:pPr>
            <a:r>
              <a:rPr lang="en-US" sz="1000" dirty="0">
                <a:solidFill>
                  <a:srgbClr val="93A3B5"/>
                </a:solidFill>
                <a:latin typeface="Calibri" pitchFamily="34" charset="0"/>
                <a:ea typeface="Calibri" pitchFamily="34" charset="-122"/>
                <a:cs typeface="Calibri" pitchFamily="34" charset="-120"/>
              </a:rPr>
              <a:t>Cost-free price features only</a:t>
            </a:r>
            <a:endParaRPr lang="en-US" sz="1000" dirty="0"/>
          </a:p>
        </p:txBody>
      </p:sp>
      <p:sp>
        <p:nvSpPr>
          <p:cNvPr id="9" name="Shape 6"/>
          <p:cNvSpPr/>
          <p:nvPr/>
        </p:nvSpPr>
        <p:spPr>
          <a:xfrm>
            <a:off x="5486400" y="2157984"/>
            <a:ext cx="3154680" cy="914400"/>
          </a:xfrm>
          <a:prstGeom prst="roundRect">
            <a:avLst>
              <a:gd name="adj" fmla="val 6000"/>
            </a:avLst>
          </a:prstGeom>
          <a:solidFill>
            <a:srgbClr val="18222F"/>
          </a:solidFill>
          <a:ln w="12700">
            <a:solidFill>
              <a:srgbClr val="25323F"/>
            </a:solidFill>
            <a:prstDash val="solid"/>
          </a:ln>
        </p:spPr>
      </p:sp>
      <p:sp>
        <p:nvSpPr>
          <p:cNvPr id="10" name="Text 7"/>
          <p:cNvSpPr txBox="1"/>
          <p:nvPr/>
        </p:nvSpPr>
        <p:spPr>
          <a:xfrm>
            <a:off x="5715000" y="2267712"/>
            <a:ext cx="1097280" cy="384048"/>
          </a:xfrm>
          <a:prstGeom prst="rect">
            <a:avLst/>
          </a:prstGeom>
          <a:noFill/>
          <a:ln/>
        </p:spPr>
        <p:txBody>
          <a:bodyPr wrap="square" lIns="0" tIns="0" rIns="0" bIns="0" rtlCol="0" anchor="ctr"/>
          <a:lstStyle/>
          <a:p>
            <a:pPr indent="0" marL="0">
              <a:buNone/>
            </a:pPr>
            <a:r>
              <a:rPr lang="en-US" sz="2200" b="1" dirty="0">
                <a:solidFill>
                  <a:srgbClr val="22D3EE"/>
                </a:solidFill>
                <a:latin typeface="Cambria" pitchFamily="34" charset="0"/>
                <a:ea typeface="Cambria" pitchFamily="34" charset="-122"/>
                <a:cs typeface="Cambria" pitchFamily="34" charset="-120"/>
              </a:rPr>
              <a:t>0.973</a:t>
            </a:r>
            <a:endParaRPr lang="en-US" sz="2200" dirty="0"/>
          </a:p>
        </p:txBody>
      </p:sp>
      <p:sp>
        <p:nvSpPr>
          <p:cNvPr id="11" name="Text 8"/>
          <p:cNvSpPr txBox="1"/>
          <p:nvPr/>
        </p:nvSpPr>
        <p:spPr>
          <a:xfrm>
            <a:off x="6812280" y="2295144"/>
            <a:ext cx="1691640" cy="365760"/>
          </a:xfrm>
          <a:prstGeom prst="rect">
            <a:avLst/>
          </a:prstGeom>
          <a:noFill/>
          <a:ln/>
        </p:spPr>
        <p:txBody>
          <a:bodyPr wrap="square" lIns="0" tIns="0" rIns="0" bIns="0" rtlCol="0" anchor="ctr"/>
          <a:lstStyle/>
          <a:p>
            <a:pPr indent="0" marL="0">
              <a:buNone/>
            </a:pPr>
            <a:r>
              <a:rPr lang="en-US" sz="1050" b="1" dirty="0">
                <a:solidFill>
                  <a:srgbClr val="E9EEF4"/>
                </a:solidFill>
                <a:latin typeface="Calibri" pitchFamily="34" charset="0"/>
                <a:ea typeface="Calibri" pitchFamily="34" charset="-122"/>
                <a:cs typeface="Calibri" pitchFamily="34" charset="-120"/>
              </a:rPr>
              <a:t>On the hardest split</a:t>
            </a:r>
            <a:endParaRPr lang="en-US" sz="1050" dirty="0"/>
          </a:p>
        </p:txBody>
      </p:sp>
      <p:sp>
        <p:nvSpPr>
          <p:cNvPr id="12" name="Text 9"/>
          <p:cNvSpPr txBox="1"/>
          <p:nvPr/>
        </p:nvSpPr>
        <p:spPr>
          <a:xfrm>
            <a:off x="5715000" y="2688336"/>
            <a:ext cx="2743200" cy="320040"/>
          </a:xfrm>
          <a:prstGeom prst="rect">
            <a:avLst/>
          </a:prstGeom>
          <a:noFill/>
          <a:ln/>
        </p:spPr>
        <p:txBody>
          <a:bodyPr wrap="square" lIns="0" tIns="0" rIns="0" bIns="0" rtlCol="0" anchor="ctr"/>
          <a:lstStyle/>
          <a:p>
            <a:pPr indent="0" marL="0">
              <a:buNone/>
            </a:pPr>
            <a:r>
              <a:rPr lang="en-US" sz="1000" dirty="0">
                <a:solidFill>
                  <a:srgbClr val="93A3B5"/>
                </a:solidFill>
                <a:latin typeface="Calibri" pitchFamily="34" charset="0"/>
                <a:ea typeface="Calibri" pitchFamily="34" charset="-122"/>
                <a:cs typeface="Calibri" pitchFamily="34" charset="-120"/>
              </a:rPr>
              <a:t>Myopic vs patient bots, where price level is confounded</a:t>
            </a:r>
            <a:endParaRPr lang="en-US" sz="1000" dirty="0"/>
          </a:p>
        </p:txBody>
      </p:sp>
      <p:sp>
        <p:nvSpPr>
          <p:cNvPr id="13" name="Shape 10"/>
          <p:cNvSpPr/>
          <p:nvPr/>
        </p:nvSpPr>
        <p:spPr>
          <a:xfrm>
            <a:off x="5486400" y="3218688"/>
            <a:ext cx="3154680" cy="914400"/>
          </a:xfrm>
          <a:prstGeom prst="roundRect">
            <a:avLst>
              <a:gd name="adj" fmla="val 6000"/>
            </a:avLst>
          </a:prstGeom>
          <a:solidFill>
            <a:srgbClr val="18222F"/>
          </a:solidFill>
          <a:ln w="19050">
            <a:solidFill>
              <a:srgbClr val="F87171"/>
            </a:solidFill>
            <a:prstDash val="solid"/>
          </a:ln>
        </p:spPr>
      </p:sp>
      <p:sp>
        <p:nvSpPr>
          <p:cNvPr id="14" name="Text 11"/>
          <p:cNvSpPr txBox="1"/>
          <p:nvPr/>
        </p:nvSpPr>
        <p:spPr>
          <a:xfrm>
            <a:off x="5715000" y="3328416"/>
            <a:ext cx="1097280" cy="384048"/>
          </a:xfrm>
          <a:prstGeom prst="rect">
            <a:avLst/>
          </a:prstGeom>
          <a:noFill/>
          <a:ln/>
        </p:spPr>
        <p:txBody>
          <a:bodyPr wrap="square" lIns="0" tIns="0" rIns="0" bIns="0" rtlCol="0" anchor="ctr"/>
          <a:lstStyle/>
          <a:p>
            <a:pPr indent="0" marL="0">
              <a:buNone/>
            </a:pPr>
            <a:r>
              <a:rPr lang="en-US" sz="2200" b="1" dirty="0">
                <a:solidFill>
                  <a:srgbClr val="F87171"/>
                </a:solidFill>
                <a:latin typeface="Cambria" pitchFamily="34" charset="0"/>
                <a:ea typeface="Cambria" pitchFamily="34" charset="-122"/>
                <a:cs typeface="Cambria" pitchFamily="34" charset="-120"/>
              </a:rPr>
              <a:t>0.430</a:t>
            </a:r>
            <a:endParaRPr lang="en-US" sz="2200" dirty="0"/>
          </a:p>
        </p:txBody>
      </p:sp>
      <p:sp>
        <p:nvSpPr>
          <p:cNvPr id="15" name="Text 12"/>
          <p:cNvSpPr txBox="1"/>
          <p:nvPr/>
        </p:nvSpPr>
        <p:spPr>
          <a:xfrm>
            <a:off x="6812280" y="3355848"/>
            <a:ext cx="1691640" cy="365760"/>
          </a:xfrm>
          <a:prstGeom prst="rect">
            <a:avLst/>
          </a:prstGeom>
          <a:noFill/>
          <a:ln/>
        </p:spPr>
        <p:txBody>
          <a:bodyPr wrap="square" lIns="0" tIns="0" rIns="0" bIns="0" rtlCol="0" anchor="ctr"/>
          <a:lstStyle/>
          <a:p>
            <a:pPr indent="0" marL="0">
              <a:buNone/>
            </a:pPr>
            <a:r>
              <a:rPr lang="en-US" sz="1050" b="1" dirty="0">
                <a:solidFill>
                  <a:srgbClr val="E9EEF4"/>
                </a:solidFill>
                <a:latin typeface="Calibri" pitchFamily="34" charset="0"/>
                <a:ea typeface="Calibri" pitchFamily="34" charset="-122"/>
                <a:cs typeface="Calibri" pitchFamily="34" charset="-120"/>
              </a:rPr>
              <a:t>Where it FAILS — below chance</a:t>
            </a:r>
            <a:endParaRPr lang="en-US" sz="1050" dirty="0"/>
          </a:p>
        </p:txBody>
      </p:sp>
      <p:sp>
        <p:nvSpPr>
          <p:cNvPr id="16" name="Text 13"/>
          <p:cNvSpPr txBox="1"/>
          <p:nvPr/>
        </p:nvSpPr>
        <p:spPr>
          <a:xfrm>
            <a:off x="5715000" y="3749040"/>
            <a:ext cx="2743200" cy="320040"/>
          </a:xfrm>
          <a:prstGeom prst="rect">
            <a:avLst/>
          </a:prstGeom>
          <a:noFill/>
          <a:ln/>
        </p:spPr>
        <p:txBody>
          <a:bodyPr wrap="square" lIns="0" tIns="0" rIns="0" bIns="0" rtlCol="0" anchor="ctr"/>
          <a:lstStyle/>
          <a:p>
            <a:pPr indent="0" marL="0">
              <a:buNone/>
            </a:pPr>
            <a:r>
              <a:rPr lang="en-US" sz="1000" dirty="0">
                <a:solidFill>
                  <a:srgbClr val="93A3B5"/>
                </a:solidFill>
                <a:latin typeface="Calibri" pitchFamily="34" charset="0"/>
                <a:ea typeface="Calibri" pitchFamily="34" charset="-122"/>
                <a:cs typeface="Calibri" pitchFamily="34" charset="-120"/>
              </a:rPr>
              <a:t>Trained on scripted cartels, tested on learned collusion</a:t>
            </a:r>
            <a:endParaRPr lang="en-US" sz="1000" dirty="0"/>
          </a:p>
        </p:txBody>
      </p:sp>
      <p:sp>
        <p:nvSpPr>
          <p:cNvPr id="17" name="Text 14"/>
          <p:cNvSpPr txBox="1"/>
          <p:nvPr/>
        </p:nvSpPr>
        <p:spPr>
          <a:xfrm>
            <a:off x="548640" y="4315968"/>
            <a:ext cx="8092440" cy="365760"/>
          </a:xfrm>
          <a:prstGeom prst="rect">
            <a:avLst/>
          </a:prstGeom>
          <a:noFill/>
          <a:ln/>
        </p:spPr>
        <p:txBody>
          <a:bodyPr wrap="square" lIns="0" tIns="0" rIns="0" bIns="0" rtlCol="0" anchor="ctr"/>
          <a:lstStyle/>
          <a:p>
            <a:pPr indent="0" marL="0">
              <a:buNone/>
            </a:pPr>
            <a:r>
              <a:rPr lang="en-US" sz="1100" i="1" dirty="0">
                <a:solidFill>
                  <a:srgbClr val="6B7C90"/>
                </a:solidFill>
                <a:latin typeface="Calibri" pitchFamily="34" charset="0"/>
                <a:ea typeface="Calibri" pitchFamily="34" charset="-122"/>
                <a:cs typeface="Calibri" pitchFamily="34" charset="-120"/>
              </a:rPr>
              <a:t>Price level alone scores 0.999 — but needs marginal cost, which is unobservable on Amazon. That is why every feature is cost-free.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2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457200"/>
          </a:xfrm>
          <a:prstGeom prst="rect">
            <a:avLst/>
          </a:prstGeom>
          <a:noFill/>
          <a:ln/>
        </p:spPr>
        <p:txBody>
          <a:bodyPr wrap="square" lIns="0" tIns="0" rIns="0" bIns="0" rtlCol="0" anchor="ctr"/>
          <a:lstStyle/>
          <a:p>
            <a:pPr indent="0" marL="0">
              <a:buNone/>
            </a:pPr>
            <a:r>
              <a:rPr lang="en-US" sz="2700" b="1" dirty="0">
                <a:solidFill>
                  <a:srgbClr val="E9EEF4"/>
                </a:solidFill>
                <a:latin typeface="Cambria" pitchFamily="34" charset="0"/>
                <a:ea typeface="Cambria" pitchFamily="34" charset="-122"/>
                <a:cs typeface="Cambria" pitchFamily="34" charset="-120"/>
              </a:rPr>
              <a:t>Where this goes next</a:t>
            </a:r>
            <a:endParaRPr lang="en-US" sz="2700" dirty="0"/>
          </a:p>
        </p:txBody>
      </p:sp>
      <p:sp>
        <p:nvSpPr>
          <p:cNvPr id="3" name="Shape 1"/>
          <p:cNvSpPr/>
          <p:nvPr/>
        </p:nvSpPr>
        <p:spPr>
          <a:xfrm>
            <a:off x="548640" y="1051560"/>
            <a:ext cx="2606040" cy="2743200"/>
          </a:xfrm>
          <a:prstGeom prst="roundRect">
            <a:avLst>
              <a:gd name="adj" fmla="val 2105"/>
            </a:avLst>
          </a:prstGeom>
          <a:solidFill>
            <a:srgbClr val="18222F"/>
          </a:solidFill>
          <a:ln w="12700">
            <a:solidFill>
              <a:srgbClr val="25323F"/>
            </a:solidFill>
            <a:prstDash val="solid"/>
          </a:ln>
        </p:spPr>
      </p:sp>
      <p:sp>
        <p:nvSpPr>
          <p:cNvPr id="4" name="Text 2"/>
          <p:cNvSpPr txBox="1"/>
          <p:nvPr/>
        </p:nvSpPr>
        <p:spPr>
          <a:xfrm>
            <a:off x="777240" y="1234440"/>
            <a:ext cx="2148840" cy="256032"/>
          </a:xfrm>
          <a:prstGeom prst="rect">
            <a:avLst/>
          </a:prstGeom>
          <a:noFill/>
          <a:ln/>
        </p:spPr>
        <p:txBody>
          <a:bodyPr wrap="square" lIns="0" tIns="0" rIns="0" bIns="0" rtlCol="0" anchor="ctr"/>
          <a:lstStyle/>
          <a:p>
            <a:pPr indent="0" marL="0">
              <a:buNone/>
            </a:pPr>
            <a:r>
              <a:rPr lang="en-US" sz="1000" b="1" spc="200" kern="0" dirty="0">
                <a:solidFill>
                  <a:srgbClr val="22D3EE"/>
                </a:solidFill>
                <a:latin typeface="Calibri" pitchFamily="34" charset="0"/>
                <a:ea typeface="Calibri" pitchFamily="34" charset="-122"/>
                <a:cs typeface="Calibri" pitchFamily="34" charset="-120"/>
              </a:rPr>
              <a:t>NOW</a:t>
            </a:r>
            <a:endParaRPr lang="en-US" sz="1000" dirty="0"/>
          </a:p>
        </p:txBody>
      </p:sp>
      <p:sp>
        <p:nvSpPr>
          <p:cNvPr id="5" name="Text 3"/>
          <p:cNvSpPr txBox="1"/>
          <p:nvPr/>
        </p:nvSpPr>
        <p:spPr>
          <a:xfrm>
            <a:off x="777240" y="1490472"/>
            <a:ext cx="2148840" cy="292608"/>
          </a:xfrm>
          <a:prstGeom prst="rect">
            <a:avLst/>
          </a:prstGeom>
          <a:noFill/>
          <a:ln/>
        </p:spPr>
        <p:txBody>
          <a:bodyPr wrap="square" lIns="0" tIns="0" rIns="0" bIns="0" rtlCol="0" anchor="ctr"/>
          <a:lstStyle/>
          <a:p>
            <a:pPr indent="0" marL="0">
              <a:buNone/>
            </a:pPr>
            <a:r>
              <a:rPr lang="en-US" sz="1350" b="1" dirty="0">
                <a:solidFill>
                  <a:srgbClr val="E9EEF4"/>
                </a:solidFill>
                <a:latin typeface="Calibri" pitchFamily="34" charset="0"/>
                <a:ea typeface="Calibri" pitchFamily="34" charset="-122"/>
                <a:cs typeface="Calibri" pitchFamily="34" charset="-120"/>
              </a:rPr>
              <a:t>Stage 1 complete</a:t>
            </a:r>
            <a:endParaRPr lang="en-US" sz="1350" dirty="0"/>
          </a:p>
        </p:txBody>
      </p:sp>
      <p:sp>
        <p:nvSpPr>
          <p:cNvPr id="6" name="Text 4"/>
          <p:cNvSpPr txBox="1"/>
          <p:nvPr/>
        </p:nvSpPr>
        <p:spPr>
          <a:xfrm>
            <a:off x="777240" y="1847088"/>
            <a:ext cx="2148840" cy="1828800"/>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Simulator, labelled dataset, baseline detector</a:t>
            </a:r>
            <a:endParaRPr lang="en-US" sz="1050" dirty="0"/>
          </a:p>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200 markets, 19 cost-free features</a:t>
            </a:r>
            <a:endParaRPr lang="en-US" sz="1050" dirty="0"/>
          </a:p>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Live dashboard</a:t>
            </a:r>
            <a:endParaRPr lang="en-US" sz="1050" dirty="0"/>
          </a:p>
        </p:txBody>
      </p:sp>
      <p:sp>
        <p:nvSpPr>
          <p:cNvPr id="7" name="Shape 5"/>
          <p:cNvSpPr/>
          <p:nvPr/>
        </p:nvSpPr>
        <p:spPr>
          <a:xfrm>
            <a:off x="3291840" y="1051560"/>
            <a:ext cx="2606040" cy="2743200"/>
          </a:xfrm>
          <a:prstGeom prst="roundRect">
            <a:avLst>
              <a:gd name="adj" fmla="val 2105"/>
            </a:avLst>
          </a:prstGeom>
          <a:solidFill>
            <a:srgbClr val="18222F"/>
          </a:solidFill>
          <a:ln w="12700">
            <a:solidFill>
              <a:srgbClr val="25323F"/>
            </a:solidFill>
            <a:prstDash val="solid"/>
          </a:ln>
        </p:spPr>
      </p:sp>
      <p:sp>
        <p:nvSpPr>
          <p:cNvPr id="8" name="Text 6"/>
          <p:cNvSpPr txBox="1"/>
          <p:nvPr/>
        </p:nvSpPr>
        <p:spPr>
          <a:xfrm>
            <a:off x="3520440" y="1234440"/>
            <a:ext cx="2148840" cy="256032"/>
          </a:xfrm>
          <a:prstGeom prst="rect">
            <a:avLst/>
          </a:prstGeom>
          <a:noFill/>
          <a:ln/>
        </p:spPr>
        <p:txBody>
          <a:bodyPr wrap="square" lIns="0" tIns="0" rIns="0" bIns="0" rtlCol="0" anchor="ctr"/>
          <a:lstStyle/>
          <a:p>
            <a:pPr indent="0" marL="0">
              <a:buNone/>
            </a:pPr>
            <a:r>
              <a:rPr lang="en-US" sz="1000" b="1" spc="200" kern="0" dirty="0">
                <a:solidFill>
                  <a:srgbClr val="FBBF24"/>
                </a:solidFill>
                <a:latin typeface="Calibri" pitchFamily="34" charset="0"/>
                <a:ea typeface="Calibri" pitchFamily="34" charset="-122"/>
                <a:cs typeface="Calibri" pitchFamily="34" charset="-120"/>
              </a:rPr>
              <a:t>NEXT</a:t>
            </a:r>
            <a:endParaRPr lang="en-US" sz="1000" dirty="0"/>
          </a:p>
        </p:txBody>
      </p:sp>
      <p:sp>
        <p:nvSpPr>
          <p:cNvPr id="9" name="Text 7"/>
          <p:cNvSpPr txBox="1"/>
          <p:nvPr/>
        </p:nvSpPr>
        <p:spPr>
          <a:xfrm>
            <a:off x="3520440" y="1490472"/>
            <a:ext cx="2148840" cy="292608"/>
          </a:xfrm>
          <a:prstGeom prst="rect">
            <a:avLst/>
          </a:prstGeom>
          <a:noFill/>
          <a:ln/>
        </p:spPr>
        <p:txBody>
          <a:bodyPr wrap="square" lIns="0" tIns="0" rIns="0" bIns="0" rtlCol="0" anchor="ctr"/>
          <a:lstStyle/>
          <a:p>
            <a:pPr indent="0" marL="0">
              <a:buNone/>
            </a:pPr>
            <a:r>
              <a:rPr lang="en-US" sz="1350" b="1" dirty="0">
                <a:solidFill>
                  <a:srgbClr val="E9EEF4"/>
                </a:solidFill>
                <a:latin typeface="Calibri" pitchFamily="34" charset="0"/>
                <a:ea typeface="Calibri" pitchFamily="34" charset="-122"/>
                <a:cs typeface="Calibri" pitchFamily="34" charset="-120"/>
              </a:rPr>
              <a:t>Harden the simulator</a:t>
            </a:r>
            <a:endParaRPr lang="en-US" sz="1350" dirty="0"/>
          </a:p>
        </p:txBody>
      </p:sp>
      <p:sp>
        <p:nvSpPr>
          <p:cNvPr id="10" name="Text 8"/>
          <p:cNvSpPr txBox="1"/>
          <p:nvPr/>
        </p:nvSpPr>
        <p:spPr>
          <a:xfrm>
            <a:off x="3520440" y="1847088"/>
            <a:ext cx="2148840" cy="1828800"/>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Continuous prices — removes grid artefacts</a:t>
            </a:r>
            <a:endParaRPr lang="en-US" sz="1050" dirty="0"/>
          </a:p>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Common cost shocks — innocent price parallelism the detector must NOT flag</a:t>
            </a:r>
            <a:endParaRPr lang="en-US" sz="1050" dirty="0"/>
          </a:p>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3–6 sellers, asymmetric costs</a:t>
            </a:r>
            <a:endParaRPr lang="en-US" sz="1050" dirty="0"/>
          </a:p>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Retrain on learned collusion only</a:t>
            </a:r>
            <a:endParaRPr lang="en-US" sz="1050" dirty="0"/>
          </a:p>
        </p:txBody>
      </p:sp>
      <p:sp>
        <p:nvSpPr>
          <p:cNvPr id="11" name="Shape 9"/>
          <p:cNvSpPr/>
          <p:nvPr/>
        </p:nvSpPr>
        <p:spPr>
          <a:xfrm>
            <a:off x="6035040" y="1051560"/>
            <a:ext cx="2606040" cy="2743200"/>
          </a:xfrm>
          <a:prstGeom prst="roundRect">
            <a:avLst>
              <a:gd name="adj" fmla="val 2105"/>
            </a:avLst>
          </a:prstGeom>
          <a:solidFill>
            <a:srgbClr val="18222F"/>
          </a:solidFill>
          <a:ln w="12700">
            <a:solidFill>
              <a:srgbClr val="25323F"/>
            </a:solidFill>
            <a:prstDash val="solid"/>
          </a:ln>
        </p:spPr>
      </p:sp>
      <p:sp>
        <p:nvSpPr>
          <p:cNvPr id="12" name="Text 10"/>
          <p:cNvSpPr txBox="1"/>
          <p:nvPr/>
        </p:nvSpPr>
        <p:spPr>
          <a:xfrm>
            <a:off x="6263640" y="1234440"/>
            <a:ext cx="2148840" cy="256032"/>
          </a:xfrm>
          <a:prstGeom prst="rect">
            <a:avLst/>
          </a:prstGeom>
          <a:noFill/>
          <a:ln/>
        </p:spPr>
        <p:txBody>
          <a:bodyPr wrap="square" lIns="0" tIns="0" rIns="0" bIns="0" rtlCol="0" anchor="ctr"/>
          <a:lstStyle/>
          <a:p>
            <a:pPr indent="0" marL="0">
              <a:buNone/>
            </a:pPr>
            <a:r>
              <a:rPr lang="en-US" sz="1000" b="1" spc="200" kern="0" dirty="0">
                <a:solidFill>
                  <a:srgbClr val="A78BFA"/>
                </a:solidFill>
                <a:latin typeface="Calibri" pitchFamily="34" charset="0"/>
                <a:ea typeface="Calibri" pitchFamily="34" charset="-122"/>
                <a:cs typeface="Calibri" pitchFamily="34" charset="-120"/>
              </a:rPr>
              <a:t>SCALE</a:t>
            </a:r>
            <a:endParaRPr lang="en-US" sz="1000" dirty="0"/>
          </a:p>
        </p:txBody>
      </p:sp>
      <p:sp>
        <p:nvSpPr>
          <p:cNvPr id="13" name="Text 11"/>
          <p:cNvSpPr txBox="1"/>
          <p:nvPr/>
        </p:nvSpPr>
        <p:spPr>
          <a:xfrm>
            <a:off x="6263640" y="1490472"/>
            <a:ext cx="2148840" cy="292608"/>
          </a:xfrm>
          <a:prstGeom prst="rect">
            <a:avLst/>
          </a:prstGeom>
          <a:noFill/>
          <a:ln/>
        </p:spPr>
        <p:txBody>
          <a:bodyPr wrap="square" lIns="0" tIns="0" rIns="0" bIns="0" rtlCol="0" anchor="ctr"/>
          <a:lstStyle/>
          <a:p>
            <a:pPr indent="0" marL="0">
              <a:buNone/>
            </a:pPr>
            <a:r>
              <a:rPr lang="en-US" sz="1350" b="1" dirty="0">
                <a:solidFill>
                  <a:srgbClr val="E9EEF4"/>
                </a:solidFill>
                <a:latin typeface="Calibri" pitchFamily="34" charset="0"/>
                <a:ea typeface="Calibri" pitchFamily="34" charset="-122"/>
                <a:cs typeface="Calibri" pitchFamily="34" charset="-120"/>
              </a:rPr>
              <a:t>Deploy on real data</a:t>
            </a:r>
            <a:endParaRPr lang="en-US" sz="1350" dirty="0"/>
          </a:p>
        </p:txBody>
      </p:sp>
      <p:sp>
        <p:nvSpPr>
          <p:cNvPr id="14" name="Text 12"/>
          <p:cNvSpPr txBox="1"/>
          <p:nvPr/>
        </p:nvSpPr>
        <p:spPr>
          <a:xfrm>
            <a:off x="6263640" y="1847088"/>
            <a:ext cx="2148840" cy="1828800"/>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Fix scrapers to capture rival sellers simultaneously</a:t>
            </a:r>
            <a:endParaRPr lang="en-US" sz="1050" dirty="0"/>
          </a:p>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Calibrate the simulator to Indian market data</a:t>
            </a:r>
            <a:endParaRPr lang="en-US" sz="1050" dirty="0"/>
          </a:p>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SHAP explanations per flagged market</a:t>
            </a:r>
            <a:endParaRPr lang="en-US" sz="1050" dirty="0"/>
          </a:p>
          <a:p>
            <a:pPr marL="342900" indent="-342900">
              <a:lnSpc>
                <a:spcPts val="1350"/>
              </a:lnSpc>
              <a:spcAft>
                <a:spcPts val="600"/>
              </a:spcAft>
              <a:buSzPct val="100000"/>
              <a:buChar char="•"/>
            </a:pPr>
            <a:r>
              <a:rPr lang="en-US" sz="1050" dirty="0">
                <a:solidFill>
                  <a:srgbClr val="93A3B5"/>
                </a:solidFill>
                <a:latin typeface="Calibri" pitchFamily="34" charset="0"/>
                <a:ea typeface="Calibri" pitchFamily="34" charset="-122"/>
                <a:cs typeface="Calibri" pitchFamily="34" charset="-120"/>
              </a:rPr>
              <a:t>Regulator-facing screening tool</a:t>
            </a:r>
            <a:endParaRPr lang="en-US" sz="1050" dirty="0"/>
          </a:p>
        </p:txBody>
      </p:sp>
      <p:sp>
        <p:nvSpPr>
          <p:cNvPr id="15" name="Shape 13"/>
          <p:cNvSpPr/>
          <p:nvPr/>
        </p:nvSpPr>
        <p:spPr>
          <a:xfrm>
            <a:off x="548640" y="3977640"/>
            <a:ext cx="8092440" cy="658368"/>
          </a:xfrm>
          <a:prstGeom prst="roundRect">
            <a:avLst>
              <a:gd name="adj" fmla="val 8333"/>
            </a:avLst>
          </a:prstGeom>
          <a:solidFill>
            <a:srgbClr val="1D1114"/>
          </a:solidFill>
          <a:ln w="12700">
            <a:solidFill>
              <a:srgbClr val="F87171"/>
            </a:solidFill>
            <a:prstDash val="solid"/>
          </a:ln>
        </p:spPr>
      </p:sp>
      <p:sp>
        <p:nvSpPr>
          <p:cNvPr id="16" name="Text 14"/>
          <p:cNvSpPr txBox="1"/>
          <p:nvPr/>
        </p:nvSpPr>
        <p:spPr>
          <a:xfrm>
            <a:off x="822960" y="4114800"/>
            <a:ext cx="7589520" cy="411480"/>
          </a:xfrm>
          <a:prstGeom prst="rect">
            <a:avLst/>
          </a:prstGeom>
          <a:noFill/>
          <a:ln/>
        </p:spPr>
        <p:txBody>
          <a:bodyPr wrap="square" lIns="0" tIns="0" rIns="0" bIns="0" rtlCol="0" anchor="ctr"/>
          <a:lstStyle/>
          <a:p>
            <a:pPr indent="0" marL="0">
              <a:lnSpc>
                <a:spcPts val="1400"/>
              </a:lnSpc>
              <a:buNone/>
            </a:pPr>
            <a:r>
              <a:rPr lang="en-US" sz="1050" b="1" dirty="0">
                <a:solidFill>
                  <a:srgbClr val="F87171"/>
                </a:solidFill>
                <a:latin typeface="Calibri" pitchFamily="34" charset="0"/>
                <a:ea typeface="Calibri" pitchFamily="34" charset="-122"/>
                <a:cs typeface="Calibri" pitchFamily="34" charset="-120"/>
              </a:rPr>
              <a:t>Real-data finding.  </a:t>
            </a:r>
            <a:pPr indent="0" marL="0">
              <a:lnSpc>
                <a:spcPts val="1400"/>
              </a:lnSpc>
              <a:buNone/>
            </a:pPr>
            <a:r>
              <a:rPr lang="en-US" sz="1050" dirty="0">
                <a:solidFill>
                  <a:srgbClr val="93A3B5"/>
                </a:solidFill>
                <a:latin typeface="Calibri" pitchFamily="34" charset="0"/>
                <a:ea typeface="Calibri" pitchFamily="34" charset="-122"/>
                <a:cs typeface="Calibri" pitchFamily="34" charset="-120"/>
              </a:rPr>
              <a:t>The fuel scraper writes one parsed price three times under three company labels, so its "perfect parallelism" is arithmetic, not evidence. Amazon's Buy Box yields one seller per product per day. We report no risk scores — deliberately.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2026-08-28T18:58:32Z</dcterms:created>
  <dcterms:modified xsi:type="dcterms:W3CDTF">2026-08-28T18:58:32Z</dcterms:modified>
</cp:coreProperties>
</file>